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645920"/>
            <a:ext cx="5669280" cy="4206240"/>
          </a:xfrm>
          <a:prstGeom prst="ellipse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1097280"/>
            <a:ext cx="5120640" cy="3840480"/>
          </a:xfrm>
          <a:prstGeom prst="ellipse">
            <a:avLst/>
          </a:prstGeom>
          <a:solidFill>
            <a:srgbClr val="F0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840480" y="5394960"/>
            <a:ext cx="4754880" cy="2377440"/>
          </a:xfrm>
          <a:prstGeom prst="ellipse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280160" y="-1463040"/>
            <a:ext cx="5852160" cy="4389120"/>
          </a:xfrm>
          <a:prstGeom prst="ellipse">
            <a:avLst/>
          </a:prstGeom>
          <a:solidFill>
            <a:srgbClr val="EA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95360" y="-914400"/>
            <a:ext cx="5303520" cy="4023360"/>
          </a:xfrm>
          <a:prstGeom prst="ellipse">
            <a:avLst/>
          </a:prstGeom>
          <a:solidFill>
            <a:srgbClr val="F0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91840" y="5120640"/>
            <a:ext cx="5669280" cy="2743200"/>
          </a:xfrm>
          <a:prstGeom prst="ellipse">
            <a:avLst/>
          </a:prstGeom>
          <a:solidFill>
            <a:srgbClr val="F2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783080"/>
            <a:ext cx="2651760" cy="26517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77240" y="868680"/>
            <a:ext cx="3154680" cy="384048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AF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1C4FD6"/>
                </a:solidFill>
                <a:latin typeface="Arial"/>
              </a:rPr>
              <a:t>SANGYAN 2026  ·  IIT-BHU  ·  SEBI × NSDL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481328"/>
            <a:ext cx="749807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i="0">
                <a:solidFill>
                  <a:srgbClr val="0C1424"/>
                </a:solidFill>
                <a:latin typeface="Arial"/>
              </a:rPr>
              <a:t>SatarkPay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C4FD6"/>
                </a:solidFill>
                <a:latin typeface="Arial"/>
              </a:rPr>
              <a:t>सतर्कपे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35808"/>
            <a:ext cx="722376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33405A"/>
                </a:solidFill>
                <a:latin typeface="Arial"/>
              </a:rPr>
              <a:t>Fraud detection that runs in the sixty seconds BEFORE the PIN —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33405A"/>
                </a:solidFill>
                <a:latin typeface="Arial"/>
              </a:rPr>
              <a:t>not after the money has gone.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24528"/>
            <a:ext cx="731520" cy="54864"/>
          </a:xfrm>
          <a:prstGeom prst="roundRect">
            <a:avLst/>
          </a:prstGeom>
          <a:solidFill>
            <a:srgbClr val="7A5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462272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64708A"/>
                </a:solidFill>
                <a:latin typeface="Arial"/>
              </a:rPr>
              <a:t>Nine attack-chain signals · Four honest tiers · Zero bytes uploaded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33405A"/>
                </a:solidFill>
                <a:latin typeface="Arial"/>
              </a:rPr>
              <a:t>Team SCΛMURΛI — Nishant Kumar · Prince Singh · Kartik Singh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7A2B6"/>
                </a:solidFill>
                <a:latin typeface="Arial"/>
              </a:rPr>
              <a:t>Track A: Fraud Resilience   ·   Track B: Awareness &amp; Grievance   ·   Track D: Behavioral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7A2B6"/>
                </a:solidFill>
                <a:latin typeface="Arial"/>
              </a:rPr>
              <a:t>SatarkPay · सतर्कपे · SANGYAN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97A2B6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645920"/>
            <a:ext cx="5669280" cy="4206240"/>
          </a:xfrm>
          <a:prstGeom prst="ellipse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1097280"/>
            <a:ext cx="5120640" cy="3840480"/>
          </a:xfrm>
          <a:prstGeom prst="ellipse">
            <a:avLst/>
          </a:prstGeom>
          <a:solidFill>
            <a:srgbClr val="F0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840480" y="5394960"/>
            <a:ext cx="4754880" cy="2377440"/>
          </a:xfrm>
          <a:prstGeom prst="ellipse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7863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C4FD6"/>
                </a:solidFill>
                <a:latin typeface="Arial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76656"/>
            <a:ext cx="9326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0C1424"/>
                </a:solidFill>
                <a:latin typeface="Arial"/>
              </a:rPr>
              <a:t>UPI fraud is not a hack. It is a conversation.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26464"/>
            <a:ext cx="566928" cy="50292"/>
          </a:xfrm>
          <a:prstGeom prst="roundRect">
            <a:avLst/>
          </a:prstGeom>
          <a:solidFill>
            <a:srgbClr val="2F6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46920" y="475488"/>
            <a:ext cx="1874519" cy="402336"/>
          </a:xfrm>
          <a:prstGeom prst="roundRect">
            <a:avLst/>
          </a:prstGeom>
          <a:solidFill>
            <a:srgbClr val="EAF1FF"/>
          </a:solidFill>
          <a:ln>
            <a:solidFill>
              <a:srgbClr val="CF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C4FD6"/>
                </a:solidFill>
                <a:latin typeface="Arial"/>
              </a:rPr>
              <a:t>01 ·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27632"/>
            <a:ext cx="6583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64708A"/>
                </a:solidFill>
                <a:latin typeface="Arial"/>
              </a:rPr>
              <a:t>Nobody breaks UPI encryption. They talk to you — a call, a deadline, a fake officer — and the money moves in one rushed moment, with one six-digit PIN.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14600"/>
            <a:ext cx="2121408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670048"/>
            <a:ext cx="1828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2F6BF6"/>
                </a:solidFill>
                <a:latin typeface="Arial"/>
              </a:rPr>
              <a:t>60 seconds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4708A"/>
                </a:solidFill>
                <a:latin typeface="Arial"/>
              </a:rPr>
              <a:t>before the PIN is where every real defence must live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2514600"/>
            <a:ext cx="2121408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36392" y="2670048"/>
            <a:ext cx="1828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B45309"/>
                </a:solidFill>
                <a:latin typeface="Arial"/>
              </a:rPr>
              <a:t>1930 / NCRP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4708A"/>
                </a:solidFill>
                <a:latin typeface="Arial"/>
              </a:rPr>
              <a:t>react after the loss — refunds are never guaranteed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7800" y="2514600"/>
            <a:ext cx="2121408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22392" y="2670048"/>
            <a:ext cx="1828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50" b="1" i="0">
                <a:solidFill>
                  <a:srgbClr val="7A5AF8"/>
                </a:solidFill>
                <a:latin typeface="Arial"/>
              </a:rPr>
              <a:t>Blacklists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4708A"/>
                </a:solidFill>
                <a:latin typeface="Arial"/>
              </a:rPr>
              <a:t>are stale the day a new scam domain is registered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343400"/>
            <a:ext cx="65836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97A2B6"/>
                </a:solidFill>
                <a:latin typeface="Arial"/>
              </a:rPr>
              <a:t>WHAT THE ATTACK LOOKS LIKE</a:t>
            </a:r>
            <a:r>
              <a:rPr sz="1100" b="1">
                <a:solidFill>
                  <a:srgbClr val="0C1424"/>
                </a:solidFill>
                <a:latin typeface="Arial"/>
              </a:rPr>
              <a:t>•  Urgency + isolation — </a:t>
            </a:r>
            <a:r>
              <a:rPr sz="1100">
                <a:solidFill>
                  <a:srgbClr val="33405A"/>
                </a:solidFill>
                <a:latin typeface="Arial"/>
              </a:rPr>
              <a:t>“stay on the call, do not tell anyone”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C1424"/>
                </a:solidFill>
                <a:latin typeface="Arial"/>
              </a:rPr>
              <a:t>•  Authority costume — </a:t>
            </a:r>
            <a:r>
              <a:rPr sz="1100">
                <a:solidFill>
                  <a:srgbClr val="33405A"/>
                </a:solidFill>
                <a:latin typeface="Arial"/>
              </a:rPr>
              <a:t>fake CBI / bank / courier / SEBI officer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C1424"/>
                </a:solidFill>
                <a:latin typeface="Arial"/>
              </a:rPr>
              <a:t>•  Wrong direction of money — </a:t>
            </a:r>
            <a:r>
              <a:rPr sz="1100">
                <a:solidFill>
                  <a:srgbClr val="33405A"/>
                </a:solidFill>
                <a:latin typeface="Arial"/>
              </a:rPr>
              <a:t>scan a QR to “receive”, pay a “fee” to get a loan/job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C1424"/>
                </a:solidFill>
                <a:latin typeface="Arial"/>
              </a:rPr>
              <a:t>•  Converging signals — </a:t>
            </a:r>
            <a:r>
              <a:rPr sz="1100">
                <a:solidFill>
                  <a:srgbClr val="33405A"/>
                </a:solidFill>
                <a:latin typeface="Arial"/>
              </a:rPr>
              <a:t>any one is survivable; two or three together is an attack</a:t>
            </a:r>
          </a:p>
        </p:txBody>
      </p:sp>
      <p:pic>
        <p:nvPicPr>
          <p:cNvPr id="18" name="Picture 17" descr="01_digital_ar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672" y="1783080"/>
            <a:ext cx="2215662" cy="384048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571231" y="5742432"/>
            <a:ext cx="2212848" cy="475488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FD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5833872"/>
            <a:ext cx="2029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E02F2F"/>
                </a:solidFill>
                <a:latin typeface="Arial"/>
              </a:rPr>
              <a:t>Fake “digital arrest”</a:t>
            </a:r>
          </a:p>
        </p:txBody>
      </p:sp>
      <p:pic>
        <p:nvPicPr>
          <p:cNvPr id="21" name="Picture 20" descr="03_qr_ref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1783080"/>
            <a:ext cx="2215662" cy="384048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9875520" y="5742432"/>
            <a:ext cx="2212848" cy="475488"/>
          </a:xfrm>
          <a:prstGeom prst="roundRect">
            <a:avLst/>
          </a:prstGeom>
          <a:solidFill>
            <a:srgbClr val="FDF3E5"/>
          </a:solidFill>
          <a:ln w="12700">
            <a:solidFill>
              <a:srgbClr val="FDF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85248" y="5833872"/>
            <a:ext cx="202996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B45309"/>
                </a:solidFill>
                <a:latin typeface="Arial"/>
              </a:rPr>
              <a:t>“Scan to receive refund”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7A2B6"/>
                </a:solidFill>
                <a:latin typeface="Arial"/>
              </a:rPr>
              <a:t>SatarkPay · सतर्कपे · SANGYAN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97A2B6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645920"/>
            <a:ext cx="5669280" cy="4206240"/>
          </a:xfrm>
          <a:prstGeom prst="ellipse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1097280"/>
            <a:ext cx="5120640" cy="3840480"/>
          </a:xfrm>
          <a:prstGeom prst="ellipse">
            <a:avLst/>
          </a:prstGeom>
          <a:solidFill>
            <a:srgbClr val="F0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840480" y="5394960"/>
            <a:ext cx="4754880" cy="2377440"/>
          </a:xfrm>
          <a:prstGeom prst="ellipse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7863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C4FD6"/>
                </a:solidFill>
                <a:latin typeface="Arial"/>
              </a:rPr>
              <a:t>DOCUMENTED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76656"/>
            <a:ext cx="9326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0C1424"/>
                </a:solidFill>
                <a:latin typeface="Arial"/>
              </a:rPr>
              <a:t>Ten scams, four seen in the wild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26464"/>
            <a:ext cx="566928" cy="50292"/>
          </a:xfrm>
          <a:prstGeom prst="roundRect">
            <a:avLst/>
          </a:prstGeom>
          <a:solidFill>
            <a:srgbClr val="2F6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46920" y="475488"/>
            <a:ext cx="1874519" cy="402336"/>
          </a:xfrm>
          <a:prstGeom prst="roundRect">
            <a:avLst/>
          </a:prstGeom>
          <a:solidFill>
            <a:srgbClr val="EAF1FF"/>
          </a:solidFill>
          <a:ln>
            <a:solidFill>
              <a:srgbClr val="CF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C4FD6"/>
                </a:solidFill>
                <a:latin typeface="Arial"/>
              </a:rPr>
              <a:t>02 · LIBRARY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7276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4708A"/>
                </a:solidFill>
                <a:latin typeface="Arial"/>
              </a:rPr>
              <a:t>Each pattern in the library names the physical fact that makes the ask impossible — that fact is what the engine encodes.</a:t>
            </a:r>
          </a:p>
        </p:txBody>
      </p:sp>
      <p:pic>
        <p:nvPicPr>
          <p:cNvPr id="11" name="Picture 10" descr="01_digital_ar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93392"/>
            <a:ext cx="1804182" cy="312724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67512" y="5230368"/>
            <a:ext cx="1572768" cy="1024128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FD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321808"/>
            <a:ext cx="1371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E02F2F"/>
                </a:solidFill>
                <a:latin typeface="Arial"/>
              </a:rPr>
              <a:t>Digital arrest</a:t>
            </a:r>
          </a:p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33405A"/>
                </a:solidFill>
                <a:latin typeface="Arial"/>
              </a:rPr>
              <a:t>No agency arrests over video call or collects a “security deposit”.</a:t>
            </a:r>
          </a:p>
        </p:txBody>
      </p:sp>
      <p:pic>
        <p:nvPicPr>
          <p:cNvPr id="14" name="Picture 13" descr="02_kyc_ap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632" y="1993392"/>
            <a:ext cx="1804182" cy="3127248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752344" y="5230368"/>
            <a:ext cx="1572768" cy="1024128"/>
          </a:xfrm>
          <a:prstGeom prst="roundRect">
            <a:avLst/>
          </a:prstGeom>
          <a:solidFill>
            <a:srgbClr val="FDF3E5"/>
          </a:solidFill>
          <a:ln w="12700">
            <a:solidFill>
              <a:srgbClr val="FDF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62072" y="5321808"/>
            <a:ext cx="1371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B45309"/>
                </a:solidFill>
                <a:latin typeface="Arial"/>
              </a:rPr>
              <a:t>KYC / fake APK</a:t>
            </a:r>
          </a:p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33405A"/>
                </a:solidFill>
                <a:latin typeface="Arial"/>
              </a:rPr>
              <a:t>The installed APK reads the OTP — the message is only bait.</a:t>
            </a:r>
          </a:p>
        </p:txBody>
      </p:sp>
      <p:pic>
        <p:nvPicPr>
          <p:cNvPr id="17" name="Picture 16" descr="03_qr_refu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1993392"/>
            <a:ext cx="1804182" cy="312724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837176" y="5230368"/>
            <a:ext cx="1572768" cy="1024128"/>
          </a:xfrm>
          <a:prstGeom prst="roundRect">
            <a:avLst/>
          </a:prstGeom>
          <a:solidFill>
            <a:srgbClr val="FDF3E5"/>
          </a:solidFill>
          <a:ln w="12700">
            <a:solidFill>
              <a:srgbClr val="FDF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46903" y="5321808"/>
            <a:ext cx="1371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B45309"/>
                </a:solidFill>
                <a:latin typeface="Arial"/>
              </a:rPr>
              <a:t>Refund QR</a:t>
            </a:r>
          </a:p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33405A"/>
                </a:solidFill>
                <a:latin typeface="Arial"/>
              </a:rPr>
              <a:t>A QR scan can only debit money. Never credit.</a:t>
            </a:r>
          </a:p>
        </p:txBody>
      </p:sp>
      <p:pic>
        <p:nvPicPr>
          <p:cNvPr id="20" name="Picture 19" descr="04_fake_jo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0296" y="1993392"/>
            <a:ext cx="1804182" cy="3127248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922008" y="5230368"/>
            <a:ext cx="1572768" cy="1024128"/>
          </a:xfrm>
          <a:prstGeom prst="roundRect">
            <a:avLst/>
          </a:prstGeom>
          <a:solidFill>
            <a:srgbClr val="F0ECFF"/>
          </a:solidFill>
          <a:ln w="12700">
            <a:solidFill>
              <a:srgbClr val="F0E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31736" y="5321808"/>
            <a:ext cx="13716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7A5AF8"/>
                </a:solidFill>
                <a:latin typeface="Arial"/>
              </a:rPr>
              <a:t>Fake job / loan</a:t>
            </a:r>
          </a:p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33405A"/>
                </a:solidFill>
                <a:latin typeface="Arial"/>
              </a:rPr>
              <a:t>Salary and loans are never unlocked by a registration fee.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1993392"/>
            <a:ext cx="2331720" cy="4261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72600" y="2194560"/>
            <a:ext cx="19659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33405A"/>
                </a:solidFill>
                <a:latin typeface="Arial"/>
              </a:rPr>
              <a:t>•  Fake bank / KYC call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33405A"/>
                </a:solidFill>
                <a:latin typeface="Arial"/>
              </a:rPr>
              <a:t>•  UPI collect-request scam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33405A"/>
                </a:solidFill>
                <a:latin typeface="Arial"/>
              </a:rPr>
              <a:t>•  OTP / PIN / CVV theft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33405A"/>
                </a:solidFill>
                <a:latin typeface="Arial"/>
              </a:rPr>
              <a:t>•  Fake customer-care numbers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33405A"/>
                </a:solidFill>
                <a:latin typeface="Arial"/>
              </a:rPr>
              <a:t>•  Remote-access apps (AnyDesk)</a:t>
            </a:r>
          </a:p>
          <a:p>
            <a:pPr algn="l">
              <a:spcAft>
                <a:spcPts val="700"/>
              </a:spcAft>
            </a:pPr>
            <a:r>
              <a:rPr sz="1050" b="0" i="0">
                <a:solidFill>
                  <a:srgbClr val="33405A"/>
                </a:solidFill>
                <a:latin typeface="Arial"/>
              </a:rPr>
              <a:t>•  SIM-swap &amp; “wrong refund”</a:t>
            </a:r>
          </a:p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64708A"/>
                </a:solidFill>
                <a:latin typeface="Arial"/>
              </a:rPr>
              <a:t>All ten ship in Hindi too —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1C4FD6"/>
                </a:solidFill>
                <a:latin typeface="Arial"/>
              </a:rPr>
              <a:t>data/scam_library_hi.json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7A2B6"/>
                </a:solidFill>
                <a:latin typeface="Arial"/>
              </a:rPr>
              <a:t>SatarkPay · सतर्कपे · SANGYAN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97A2B6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645920"/>
            <a:ext cx="5669280" cy="4206240"/>
          </a:xfrm>
          <a:prstGeom prst="ellipse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1097280"/>
            <a:ext cx="5120640" cy="3840480"/>
          </a:xfrm>
          <a:prstGeom prst="ellipse">
            <a:avLst/>
          </a:prstGeom>
          <a:solidFill>
            <a:srgbClr val="F0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840480" y="5394960"/>
            <a:ext cx="4754880" cy="2377440"/>
          </a:xfrm>
          <a:prstGeom prst="ellipse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7863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C4FD6"/>
                </a:solidFill>
                <a:latin typeface="Arial"/>
              </a:rP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76656"/>
            <a:ext cx="9326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0C1424"/>
                </a:solidFill>
                <a:latin typeface="Arial"/>
              </a:rPr>
              <a:t>Nine signals, one honest arithmetic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26464"/>
            <a:ext cx="566928" cy="50292"/>
          </a:xfrm>
          <a:prstGeom prst="roundRect">
            <a:avLst/>
          </a:prstGeom>
          <a:solidFill>
            <a:srgbClr val="2F6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46920" y="475488"/>
            <a:ext cx="1874519" cy="402336"/>
          </a:xfrm>
          <a:prstGeom prst="roundRect">
            <a:avLst/>
          </a:prstGeom>
          <a:solidFill>
            <a:srgbClr val="EAF1FF"/>
          </a:solidFill>
          <a:ln>
            <a:solidFill>
              <a:srgbClr val="CF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C4FD6"/>
                </a:solidFill>
                <a:latin typeface="Arial"/>
              </a:rPr>
              <a:t>03 · 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7276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4708A"/>
                </a:solidFill>
                <a:latin typeface="Arial"/>
              </a:rPr>
              <a:t>Every weight is a whole number, added in the open. The arithmetic IS the explanation — which is the only way a warning is ever believed.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084831"/>
            <a:ext cx="5989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67712"/>
            <a:ext cx="557784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950" b="1" i="0">
                <a:solidFill>
                  <a:srgbClr val="97A2B6"/>
                </a:solidFill>
                <a:latin typeface="Arial"/>
              </a:rPr>
              <a:t>THE ATTACK CHAIN (EXAMPLE)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33405A"/>
                </a:solidFill>
                <a:latin typeface="Arial"/>
              </a:rPr>
              <a:t>On a call while paying  ····  </a:t>
            </a:r>
            <a:r>
              <a:rPr sz="1100" b="1">
                <a:solidFill>
                  <a:srgbClr val="E02F2F"/>
                </a:solidFill>
                <a:latin typeface="Arial"/>
              </a:rPr>
              <a:t>+4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33405A"/>
                </a:solidFill>
                <a:latin typeface="Arial"/>
              </a:rPr>
              <a:t>“Scan to receive money”  ····  </a:t>
            </a:r>
            <a:r>
              <a:rPr sz="1100" b="1">
                <a:solidFill>
                  <a:srgbClr val="E02F2F"/>
                </a:solidFill>
                <a:latin typeface="Arial"/>
              </a:rPr>
              <a:t>+4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33405A"/>
                </a:solidFill>
                <a:latin typeface="Arial"/>
              </a:rPr>
              <a:t>Screen sharing active  ····  </a:t>
            </a:r>
            <a:r>
              <a:rPr sz="1100" b="1">
                <a:solidFill>
                  <a:srgbClr val="E02F2F"/>
                </a:solidFill>
                <a:latin typeface="Arial"/>
              </a:rPr>
              <a:t>+3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33405A"/>
                </a:solidFill>
                <a:latin typeface="Arial"/>
              </a:rPr>
              <a:t>First time paying this payee  ····  </a:t>
            </a:r>
            <a:r>
              <a:rPr sz="1100" b="1">
                <a:solidFill>
                  <a:srgbClr val="E02F2F"/>
                </a:solidFill>
                <a:latin typeface="Arial"/>
              </a:rPr>
              <a:t>+3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33405A"/>
                </a:solidFill>
                <a:latin typeface="Arial"/>
              </a:rPr>
              <a:t>Amount ≫ your usual  ····  </a:t>
            </a:r>
            <a:r>
              <a:rPr sz="1100" b="1">
                <a:solidFill>
                  <a:srgbClr val="E02F2F"/>
                </a:solidFill>
                <a:latin typeface="Arial"/>
              </a:rPr>
              <a:t>+3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33405A"/>
                </a:solidFill>
                <a:latin typeface="Arial"/>
              </a:rPr>
              <a:t>Instructions over chat  ····  </a:t>
            </a:r>
            <a:r>
              <a:rPr sz="1100" b="1">
                <a:solidFill>
                  <a:srgbClr val="E02F2F"/>
                </a:solidFill>
                <a:latin typeface="Arial"/>
              </a:rPr>
              <a:t>+2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33405A"/>
                </a:solidFill>
                <a:latin typeface="Arial"/>
              </a:rPr>
              <a:t>Long build-up before the ask  ····  </a:t>
            </a:r>
            <a:r>
              <a:rPr sz="1100" b="1">
                <a:solidFill>
                  <a:srgbClr val="E02F2F"/>
                </a:solidFill>
                <a:latin typeface="Arial"/>
              </a:rPr>
              <a:t>+2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33405A"/>
                </a:solidFill>
                <a:latin typeface="Arial"/>
              </a:rPr>
              <a:t>Handle is not a real PSP code  ····  </a:t>
            </a:r>
            <a:r>
              <a:rPr sz="1100" b="1">
                <a:solidFill>
                  <a:srgbClr val="E02F2F"/>
                </a:solidFill>
                <a:latin typeface="Arial"/>
              </a:rPr>
              <a:t>+2</a:t>
            </a:r>
          </a:p>
          <a:p>
            <a:pPr>
              <a:spcAft>
                <a:spcPts val="500"/>
              </a:spcAft>
            </a:pPr>
            <a:r>
              <a:rPr sz="1100">
                <a:solidFill>
                  <a:srgbClr val="33405A"/>
                </a:solidFill>
                <a:latin typeface="Arial"/>
              </a:rPr>
              <a:t>Message matches known script  ····  </a:t>
            </a:r>
            <a:r>
              <a:rPr sz="1100" b="1">
                <a:solidFill>
                  <a:srgbClr val="E02F2F"/>
                </a:solidFill>
                <a:latin typeface="Arial"/>
              </a:rPr>
              <a:t>+5</a:t>
            </a:r>
          </a:p>
          <a:p>
            <a:pPr>
              <a:spcAft>
                <a:spcPts val="0"/>
              </a:spcAft>
            </a:pPr>
            <a:r>
              <a:rPr sz="1200" b="1">
                <a:solidFill>
                  <a:srgbClr val="E02F2F"/>
                </a:solidFill>
                <a:latin typeface="Arial"/>
              </a:rPr>
              <a:t>score 23  →  CRITICAL  →  pay action withheld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2084831"/>
            <a:ext cx="4526280" cy="932688"/>
          </a:xfrm>
          <a:prstGeom prst="roundRect">
            <a:avLst/>
          </a:prstGeom>
          <a:solidFill>
            <a:srgbClr val="E6F8F1"/>
          </a:solidFill>
          <a:ln w="12700">
            <a:solidFill>
              <a:srgbClr val="E6F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0" y="2203703"/>
            <a:ext cx="41148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0D9F6D"/>
                </a:solidFill>
                <a:latin typeface="Arial"/>
              </a:rPr>
              <a:t>LOW · 0–2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33405A"/>
                </a:solidFill>
                <a:latin typeface="Arial"/>
              </a:rPr>
              <a:t>Pay when ready — still match the payee name yourself.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3154679"/>
            <a:ext cx="4526280" cy="932688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AF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3273551"/>
            <a:ext cx="41148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C4FD6"/>
                </a:solidFill>
                <a:latin typeface="Arial"/>
              </a:rPr>
              <a:t>CAUTION · 3–5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33405A"/>
                </a:solidFill>
                <a:latin typeface="Arial"/>
              </a:rPr>
              <a:t>30-second cooling-off. Long enough to think, not to feel punished.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60" y="4224527"/>
            <a:ext cx="4526280" cy="932688"/>
          </a:xfrm>
          <a:prstGeom prst="roundRect">
            <a:avLst/>
          </a:prstGeom>
          <a:solidFill>
            <a:srgbClr val="FDF3E5"/>
          </a:solidFill>
          <a:ln w="12700">
            <a:solidFill>
              <a:srgbClr val="FDF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0" y="4343399"/>
            <a:ext cx="41148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B45309"/>
                </a:solidFill>
                <a:latin typeface="Arial"/>
              </a:rPr>
              <a:t>HIGH · 6–9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33405A"/>
                </a:solidFill>
                <a:latin typeface="Arial"/>
              </a:rPr>
              <a:t>60-second cooling + a written alternative route per signal.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95160" y="5294375"/>
            <a:ext cx="4526280" cy="932688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FD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5413247"/>
            <a:ext cx="41148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E02F2F"/>
                </a:solidFill>
                <a:latin typeface="Arial"/>
              </a:rPr>
              <a:t>CRITICAL · 10+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33405A"/>
                </a:solidFill>
                <a:latin typeface="Arial"/>
              </a:rPr>
              <a:t>Pay withheld. No countdown — it never “becomes available”.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7A2B6"/>
                </a:solidFill>
                <a:latin typeface="Arial"/>
              </a:rPr>
              <a:t>SatarkPay · सतर्कपे · SANGYAN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97A2B6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645920"/>
            <a:ext cx="5669280" cy="4206240"/>
          </a:xfrm>
          <a:prstGeom prst="ellipse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1097280"/>
            <a:ext cx="5120640" cy="3840480"/>
          </a:xfrm>
          <a:prstGeom prst="ellipse">
            <a:avLst/>
          </a:prstGeom>
          <a:solidFill>
            <a:srgbClr val="F0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840480" y="5394960"/>
            <a:ext cx="4754880" cy="2377440"/>
          </a:xfrm>
          <a:prstGeom prst="ellipse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7863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C4FD6"/>
                </a:solidFill>
                <a:latin typeface="Arial"/>
              </a:rPr>
              <a:t>LIVE PRODUCT ·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76656"/>
            <a:ext cx="9326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0C1424"/>
                </a:solidFill>
                <a:latin typeface="Arial"/>
              </a:rPr>
              <a:t>SatarkPay web app — offline, no install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26464"/>
            <a:ext cx="566928" cy="50292"/>
          </a:xfrm>
          <a:prstGeom prst="roundRect">
            <a:avLst/>
          </a:prstGeom>
          <a:solidFill>
            <a:srgbClr val="2F6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46920" y="475488"/>
            <a:ext cx="1874519" cy="402336"/>
          </a:xfrm>
          <a:prstGeom prst="roundRect">
            <a:avLst/>
          </a:prstGeom>
          <a:solidFill>
            <a:srgbClr val="EAF1FF"/>
          </a:solidFill>
          <a:ln>
            <a:solidFill>
              <a:srgbClr val="CF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C4FD6"/>
                </a:solidFill>
                <a:latin typeface="Arial"/>
              </a:rPr>
              <a:t>04 ·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91056"/>
            <a:ext cx="48463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97A2B6"/>
                </a:solidFill>
                <a:latin typeface="Arial"/>
              </a:rPr>
              <a:t>WHAT IT RUNS</a:t>
            </a:r>
            <a:r>
              <a:rPr sz="1100" b="1">
                <a:solidFill>
                  <a:srgbClr val="0C1424"/>
                </a:solidFill>
                <a:latin typeface="Arial"/>
              </a:rPr>
              <a:t>•  Payment gate — </a:t>
            </a:r>
            <a:r>
              <a:rPr sz="1100">
                <a:solidFill>
                  <a:srgbClr val="33405A"/>
                </a:solidFill>
                <a:latin typeface="Arial"/>
              </a:rPr>
              <a:t>nine questions → score → tier → gate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C1424"/>
                </a:solidFill>
                <a:latin typeface="Arial"/>
              </a:rPr>
              <a:t>•  Message checker — </a:t>
            </a:r>
            <a:r>
              <a:rPr sz="1100">
                <a:solidFill>
                  <a:srgbClr val="33405A"/>
                </a:solidFill>
                <a:latin typeface="Arial"/>
              </a:rPr>
              <a:t>13 fraud patterns + 4 legitimacy markers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C1424"/>
                </a:solidFill>
                <a:latin typeface="Arial"/>
              </a:rPr>
              <a:t>•  Link ladder — </a:t>
            </a:r>
            <a:r>
              <a:rPr sz="1100">
                <a:solidFill>
                  <a:srgbClr val="33405A"/>
                </a:solidFill>
                <a:latin typeface="Arial"/>
              </a:rPr>
              <a:t>decomposition instead of blacklists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C1424"/>
                </a:solidFill>
                <a:latin typeface="Arial"/>
              </a:rPr>
              <a:t>•  Redaction first — </a:t>
            </a:r>
            <a:r>
              <a:rPr sz="1100">
                <a:solidFill>
                  <a:srgbClr val="33405A"/>
                </a:solidFill>
                <a:latin typeface="Arial"/>
              </a:rPr>
              <a:t>UPI IDs, cards, OTPs masked on-device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C1424"/>
                </a:solidFill>
                <a:latin typeface="Arial"/>
              </a:rPr>
              <a:t>•  Evidence pack — </a:t>
            </a:r>
            <a:r>
              <a:rPr sz="1100">
                <a:solidFill>
                  <a:srgbClr val="33405A"/>
                </a:solidFill>
                <a:latin typeface="Arial"/>
              </a:rPr>
              <a:t>structured, redacted, 1930-ready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C1424"/>
                </a:solidFill>
                <a:latin typeface="Arial"/>
              </a:rPr>
              <a:t>•  Emergency mode — </a:t>
            </a:r>
            <a:r>
              <a:rPr sz="1100">
                <a:solidFill>
                  <a:srgbClr val="33405A"/>
                </a:solidFill>
                <a:latin typeface="Arial"/>
              </a:rPr>
              <a:t>seven steps in the order that matters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C1424"/>
                </a:solidFill>
                <a:latin typeface="Arial"/>
              </a:rPr>
              <a:t>•  Hindi voice + senior mode — </a:t>
            </a:r>
            <a:r>
              <a:rPr sz="1100">
                <a:solidFill>
                  <a:srgbClr val="33405A"/>
                </a:solidFill>
                <a:latin typeface="Arial"/>
              </a:rPr>
              <a:t>for elders, in their language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892040"/>
            <a:ext cx="4800600" cy="123444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AF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56632"/>
            <a:ext cx="438912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1C4FD6"/>
                </a:solidFill>
                <a:latin typeface="Arial"/>
              </a:rPr>
              <a:t>8/8 pages work with the network cut.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33405A"/>
                </a:solidFill>
                <a:latin typeface="Arial"/>
              </a:rPr>
              <a:t>No account, no server, no analytics. Verified by switching the browser offline and reloading every page.</a:t>
            </a:r>
          </a:p>
        </p:txBody>
      </p:sp>
      <p:pic>
        <p:nvPicPr>
          <p:cNvPr id="13" name="Picture 12" descr="w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664208"/>
            <a:ext cx="5623560" cy="393649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897880" y="5650992"/>
            <a:ext cx="5623560" cy="566928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F4F7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08192" y="5769864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33405A"/>
                </a:solidFill>
                <a:latin typeface="Arial"/>
              </a:rPr>
              <a:t>Dashboard · attack-chain · tiers · 8 offline 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7A2B6"/>
                </a:solidFill>
                <a:latin typeface="Arial"/>
              </a:rPr>
              <a:t>SatarkPay · सतर्कपे · SANGYAN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97A2B6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645920"/>
            <a:ext cx="5669280" cy="4206240"/>
          </a:xfrm>
          <a:prstGeom prst="ellipse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1097280"/>
            <a:ext cx="5120640" cy="3840480"/>
          </a:xfrm>
          <a:prstGeom prst="ellipse">
            <a:avLst/>
          </a:prstGeom>
          <a:solidFill>
            <a:srgbClr val="F0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840480" y="5394960"/>
            <a:ext cx="4754880" cy="2377440"/>
          </a:xfrm>
          <a:prstGeom prst="ellipse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7863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C4FD6"/>
                </a:solidFill>
                <a:latin typeface="Arial"/>
              </a:rPr>
              <a:t>LIVE PRODUCT ·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76656"/>
            <a:ext cx="9326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0C1424"/>
                </a:solidFill>
                <a:latin typeface="Arial"/>
              </a:rPr>
              <a:t>Check a message · library ·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26464"/>
            <a:ext cx="566928" cy="50292"/>
          </a:xfrm>
          <a:prstGeom prst="roundRect">
            <a:avLst/>
          </a:prstGeom>
          <a:solidFill>
            <a:srgbClr val="2F6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46920" y="475488"/>
            <a:ext cx="1874519" cy="402336"/>
          </a:xfrm>
          <a:prstGeom prst="roundRect">
            <a:avLst/>
          </a:prstGeom>
          <a:solidFill>
            <a:srgbClr val="EAF1FF"/>
          </a:solidFill>
          <a:ln>
            <a:solidFill>
              <a:srgbClr val="CF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C4FD6"/>
                </a:solidFill>
                <a:latin typeface="Arial"/>
              </a:rPr>
              <a:t>04 · DEMO</a:t>
            </a:r>
          </a:p>
        </p:txBody>
      </p:sp>
      <p:pic>
        <p:nvPicPr>
          <p:cNvPr id="10" name="Picture 9" descr="w3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27632"/>
            <a:ext cx="5440680" cy="3808476"/>
          </a:xfrm>
          <a:prstGeom prst="rect">
            <a:avLst/>
          </a:prstGeom>
        </p:spPr>
      </p:pic>
      <p:pic>
        <p:nvPicPr>
          <p:cNvPr id="11" name="Picture 10" descr="w4_libr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27632"/>
            <a:ext cx="5120640" cy="358444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5596128"/>
            <a:ext cx="10835640" cy="658368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F4F7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724144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33405A"/>
                </a:solidFill>
                <a:latin typeface="Arial"/>
              </a:rPr>
              <a:t>WhatsApp Scam Checker: paste any suspicious SMS / WhatsApp / job or loan offer → pattern match + legitimacy markers + “what not to do” + official complaint routes.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7A2B6"/>
                </a:solidFill>
                <a:latin typeface="Arial"/>
              </a:rPr>
              <a:t>SatarkPay · सतर्कपे · SANGYAN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97A2B6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645920"/>
            <a:ext cx="5669280" cy="4206240"/>
          </a:xfrm>
          <a:prstGeom prst="ellipse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1097280"/>
            <a:ext cx="5120640" cy="3840480"/>
          </a:xfrm>
          <a:prstGeom prst="ellipse">
            <a:avLst/>
          </a:prstGeom>
          <a:solidFill>
            <a:srgbClr val="F0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840480" y="5394960"/>
            <a:ext cx="4754880" cy="2377440"/>
          </a:xfrm>
          <a:prstGeom prst="ellipse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7863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C4FD6"/>
                </a:solidFill>
                <a:latin typeface="Arial"/>
              </a:rPr>
              <a:t>LIVE PRODUCT · ANDROID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76656"/>
            <a:ext cx="9326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0C1424"/>
                </a:solidFill>
                <a:latin typeface="Arial"/>
              </a:rPr>
              <a:t>Native app — Kotlin + Jetpack Compose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26464"/>
            <a:ext cx="566928" cy="50292"/>
          </a:xfrm>
          <a:prstGeom prst="roundRect">
            <a:avLst/>
          </a:prstGeom>
          <a:solidFill>
            <a:srgbClr val="2F6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46920" y="475488"/>
            <a:ext cx="1874519" cy="402336"/>
          </a:xfrm>
          <a:prstGeom prst="roundRect">
            <a:avLst/>
          </a:prstGeom>
          <a:solidFill>
            <a:srgbClr val="EAF1FF"/>
          </a:solidFill>
          <a:ln>
            <a:solidFill>
              <a:srgbClr val="CF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C4FD6"/>
                </a:solidFill>
                <a:latin typeface="Arial"/>
              </a:rPr>
              <a:t>05 ·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91056"/>
            <a:ext cx="47091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 i="0">
                <a:solidFill>
                  <a:srgbClr val="97A2B6"/>
                </a:solidFill>
                <a:latin typeface="Arial"/>
              </a:rPr>
              <a:t>14 SCREENS · FULL STACK</a:t>
            </a:r>
            <a:r>
              <a:rPr sz="1100" b="1">
                <a:solidFill>
                  <a:srgbClr val="0C1424"/>
                </a:solidFill>
                <a:latin typeface="Arial"/>
              </a:rPr>
              <a:t>•  Chat-before-Pay gate — </a:t>
            </a:r>
            <a:r>
              <a:rPr sz="1100">
                <a:solidFill>
                  <a:srgbClr val="33405A"/>
                </a:solidFill>
                <a:latin typeface="Arial"/>
              </a:rPr>
              <a:t>the same engine, native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C1424"/>
                </a:solidFill>
                <a:latin typeface="Arial"/>
              </a:rPr>
              <a:t>•  Screenshot Radar — </a:t>
            </a:r>
            <a:r>
              <a:rPr sz="1100">
                <a:solidFill>
                  <a:srgbClr val="33405A"/>
                </a:solidFill>
                <a:latin typeface="Arial"/>
              </a:rPr>
              <a:t>WhatsApp burst detection + triage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C1424"/>
                </a:solidFill>
                <a:latin typeface="Arial"/>
              </a:rPr>
              <a:t>•  Sanchalak AI chat — </a:t>
            </a:r>
            <a:r>
              <a:rPr sz="1100">
                <a:solidFill>
                  <a:srgbClr val="33405A"/>
                </a:solidFill>
                <a:latin typeface="Arial"/>
              </a:rPr>
              <a:t>Hindi voice, audio notes (Gemini)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C1424"/>
                </a:solidFill>
                <a:latin typeface="Arial"/>
              </a:rPr>
              <a:t>•  Wallet AutoPay audit — </a:t>
            </a:r>
            <a:r>
              <a:rPr sz="1100">
                <a:solidFill>
                  <a:srgbClr val="33405A"/>
                </a:solidFill>
                <a:latin typeface="Arial"/>
              </a:rPr>
              <a:t>silent mandates, exposed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C1424"/>
                </a:solidFill>
                <a:latin typeface="Arial"/>
              </a:rPr>
              <a:t>•  Emergency + Grievance — </a:t>
            </a:r>
            <a:r>
              <a:rPr sz="1100">
                <a:solidFill>
                  <a:srgbClr val="33405A"/>
                </a:solidFill>
                <a:latin typeface="Arial"/>
              </a:rPr>
              <a:t>1930 pack, SCORES/ODR ladder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C1424"/>
                </a:solidFill>
                <a:latin typeface="Arial"/>
              </a:rPr>
              <a:t>•  App-security scanner — </a:t>
            </a:r>
            <a:r>
              <a:rPr sz="1100">
                <a:solidFill>
                  <a:srgbClr val="33405A"/>
                </a:solidFill>
                <a:latin typeface="Arial"/>
              </a:rPr>
              <a:t>remote-access app detector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0C1424"/>
                </a:solidFill>
                <a:latin typeface="Arial"/>
              </a:rPr>
              <a:t>•  Room DB + offline rules — </a:t>
            </a:r>
            <a:r>
              <a:rPr sz="1100">
                <a:solidFill>
                  <a:srgbClr val="33405A"/>
                </a:solidFill>
                <a:latin typeface="Arial"/>
              </a:rPr>
              <a:t>core protects with zero network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029200"/>
            <a:ext cx="4709160" cy="1097280"/>
          </a:xfrm>
          <a:prstGeom prst="roundRect">
            <a:avLst/>
          </a:prstGeom>
          <a:solidFill>
            <a:srgbClr val="E6F8F1"/>
          </a:solidFill>
          <a:ln w="12700">
            <a:solidFill>
              <a:srgbClr val="E6F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175504"/>
            <a:ext cx="4297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0D9F6D"/>
                </a:solidFill>
                <a:latin typeface="Arial"/>
              </a:rPr>
              <a:t>Premium light fintech theme —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33405A"/>
                </a:solidFill>
                <a:latin typeface="Arial"/>
              </a:rPr>
              <a:t>same design system as the web app. Senior mode, Hindi TTS, PII masking built in.</a:t>
            </a:r>
          </a:p>
        </p:txBody>
      </p:sp>
      <p:pic>
        <p:nvPicPr>
          <p:cNvPr id="13" name="Picture 12" descr="02_screenshot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627632"/>
            <a:ext cx="2788920" cy="1952244"/>
          </a:xfrm>
          <a:prstGeom prst="rect">
            <a:avLst/>
          </a:prstGeom>
        </p:spPr>
      </p:pic>
      <p:pic>
        <p:nvPicPr>
          <p:cNvPr id="14" name="Picture 13" descr="04_ai_sanchala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627632"/>
            <a:ext cx="2788920" cy="1952244"/>
          </a:xfrm>
          <a:prstGeom prst="rect">
            <a:avLst/>
          </a:prstGeom>
        </p:spPr>
      </p:pic>
      <p:pic>
        <p:nvPicPr>
          <p:cNvPr id="15" name="Picture 14" descr="07_auto_report_1930_p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3675887"/>
            <a:ext cx="2788920" cy="1952244"/>
          </a:xfrm>
          <a:prstGeom prst="rect">
            <a:avLst/>
          </a:prstGeom>
        </p:spPr>
      </p:pic>
      <p:pic>
        <p:nvPicPr>
          <p:cNvPr id="16" name="Picture 15" descr="10_senior_mode_vo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3675887"/>
            <a:ext cx="2788920" cy="19522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7A2B6"/>
                </a:solidFill>
                <a:latin typeface="Arial"/>
              </a:rPr>
              <a:t>SatarkPay · सतर्कपे · SANGYAN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97A2B6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645920"/>
            <a:ext cx="5669280" cy="4206240"/>
          </a:xfrm>
          <a:prstGeom prst="ellipse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1097280"/>
            <a:ext cx="5120640" cy="3840480"/>
          </a:xfrm>
          <a:prstGeom prst="ellipse">
            <a:avLst/>
          </a:prstGeom>
          <a:solidFill>
            <a:srgbClr val="F0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840480" y="5394960"/>
            <a:ext cx="4754880" cy="2377440"/>
          </a:xfrm>
          <a:prstGeom prst="ellipse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7863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C4FD6"/>
                </a:solidFill>
                <a:latin typeface="Arial"/>
              </a:rPr>
              <a:t>WHEN MONEY IS ALREADY GONE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76656"/>
            <a:ext cx="9326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0C1424"/>
                </a:solidFill>
                <a:latin typeface="Arial"/>
              </a:rPr>
              <a:t>10-minute emergency mode + complaint packet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26464"/>
            <a:ext cx="566928" cy="50292"/>
          </a:xfrm>
          <a:prstGeom prst="roundRect">
            <a:avLst/>
          </a:prstGeom>
          <a:solidFill>
            <a:srgbClr val="2F6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46920" y="475488"/>
            <a:ext cx="1874519" cy="402336"/>
          </a:xfrm>
          <a:prstGeom prst="roundRect">
            <a:avLst/>
          </a:prstGeom>
          <a:solidFill>
            <a:srgbClr val="EAF1FF"/>
          </a:solidFill>
          <a:ln>
            <a:solidFill>
              <a:srgbClr val="CF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C4FD6"/>
                </a:solidFill>
                <a:latin typeface="Arial"/>
              </a:rPr>
              <a:t>06 ·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9344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1" i="0">
                <a:solidFill>
                  <a:srgbClr val="97A2B6"/>
                </a:solidFill>
                <a:latin typeface="Arial"/>
              </a:rPr>
              <a:t>IN THE ORDER THAT CHANGES THE OUTCOME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011680"/>
            <a:ext cx="475488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12848"/>
            <a:ext cx="4343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1C4FD6"/>
                </a:solidFill>
                <a:latin typeface="Arial"/>
              </a:rPr>
              <a:t>1.  </a:t>
            </a:r>
            <a:r>
              <a:rPr sz="1100">
                <a:solidFill>
                  <a:srgbClr val="33405A"/>
                </a:solidFill>
                <a:latin typeface="Arial"/>
              </a:rPr>
              <a:t>Call 1930 immediately — golden hour for freezing funds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1C4FD6"/>
                </a:solidFill>
                <a:latin typeface="Arial"/>
              </a:rPr>
              <a:t>2.  </a:t>
            </a:r>
            <a:r>
              <a:rPr sz="1100">
                <a:solidFill>
                  <a:srgbClr val="33405A"/>
                </a:solidFill>
                <a:latin typeface="Arial"/>
              </a:rPr>
              <a:t>Report on cybercrime.gov.in (Financial Fraud)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1C4FD6"/>
                </a:solidFill>
                <a:latin typeface="Arial"/>
              </a:rPr>
              <a:t>3.  </a:t>
            </a:r>
            <a:r>
              <a:rPr sz="1100">
                <a:solidFill>
                  <a:srgbClr val="33405A"/>
                </a:solidFill>
                <a:latin typeface="Arial"/>
              </a:rPr>
              <a:t>Bank + UPI app: block / freeze cards, UPI, net-banking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1C4FD6"/>
                </a:solidFill>
                <a:latin typeface="Arial"/>
              </a:rPr>
              <a:t>4.  </a:t>
            </a:r>
            <a:r>
              <a:rPr sz="1100">
                <a:solidFill>
                  <a:srgbClr val="33405A"/>
                </a:solidFill>
                <a:latin typeface="Arial"/>
              </a:rPr>
              <a:t>Preserve evidence: UTR, txn IDs, chats, screenshots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1C4FD6"/>
                </a:solidFill>
                <a:latin typeface="Arial"/>
              </a:rPr>
              <a:t>5.  </a:t>
            </a:r>
            <a:r>
              <a:rPr sz="1100">
                <a:solidFill>
                  <a:srgbClr val="33405A"/>
                </a:solidFill>
                <a:latin typeface="Arial"/>
              </a:rPr>
              <a:t>Get a written complaint number from the bank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1C4FD6"/>
                </a:solidFill>
                <a:latin typeface="Arial"/>
              </a:rPr>
              <a:t>6.  </a:t>
            </a:r>
            <a:r>
              <a:rPr sz="1100">
                <a:solidFill>
                  <a:srgbClr val="33405A"/>
                </a:solidFill>
                <a:latin typeface="Arial"/>
              </a:rPr>
              <a:t>Alert family — the “recovery agent” call is coming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1C4FD6"/>
                </a:solidFill>
                <a:latin typeface="Arial"/>
              </a:rPr>
              <a:t>7.  </a:t>
            </a:r>
            <a:r>
              <a:rPr sz="1100">
                <a:solidFill>
                  <a:srgbClr val="33405A"/>
                </a:solidFill>
                <a:latin typeface="Arial"/>
              </a:rPr>
              <a:t>Never pay anyone promising recovery</a:t>
            </a:r>
          </a:p>
        </p:txBody>
      </p:sp>
      <p:pic>
        <p:nvPicPr>
          <p:cNvPr id="13" name="Picture 12" descr="w6_emerg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27632"/>
            <a:ext cx="5257800" cy="368046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760720" y="5349240"/>
            <a:ext cx="5760720" cy="914400"/>
          </a:xfrm>
          <a:prstGeom prst="roundRect">
            <a:avLst/>
          </a:prstGeom>
          <a:solidFill>
            <a:srgbClr val="F4F7FC"/>
          </a:solidFill>
          <a:ln w="12700">
            <a:solidFill>
              <a:srgbClr val="F4F7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5458968"/>
            <a:ext cx="53492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C1424"/>
                </a:solidFill>
                <a:latin typeface="Arial"/>
              </a:rPr>
              <a:t>Complaint Packet Generator + Hindi voice</a:t>
            </a:r>
          </a:p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33405A"/>
                </a:solidFill>
                <a:latin typeface="Arial"/>
              </a:rPr>
              <a:t>One structured redacted record for cybercrime.gov.in / the bank — plus voice guidance for seniors.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7A2B6"/>
                </a:solidFill>
                <a:latin typeface="Arial"/>
              </a:rPr>
              <a:t>SatarkPay · सतर्कपे · SANGYAN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97A2B6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645920"/>
            <a:ext cx="5669280" cy="4206240"/>
          </a:xfrm>
          <a:prstGeom prst="ellipse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1097280"/>
            <a:ext cx="5120640" cy="3840480"/>
          </a:xfrm>
          <a:prstGeom prst="ellipse">
            <a:avLst/>
          </a:prstGeom>
          <a:solidFill>
            <a:srgbClr val="F0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840480" y="5394960"/>
            <a:ext cx="4754880" cy="2377440"/>
          </a:xfrm>
          <a:prstGeom prst="ellipse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7863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C4FD6"/>
                </a:solidFill>
                <a:latin typeface="Arial"/>
              </a:rPr>
              <a:t>VERIFIED IN THIS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76656"/>
            <a:ext cx="9326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0C1424"/>
                </a:solidFill>
                <a:latin typeface="Arial"/>
              </a:rPr>
              <a:t>Small numbers, honestly labelled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26464"/>
            <a:ext cx="566928" cy="50292"/>
          </a:xfrm>
          <a:prstGeom prst="roundRect">
            <a:avLst/>
          </a:prstGeom>
          <a:solidFill>
            <a:srgbClr val="2F6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46920" y="475488"/>
            <a:ext cx="1874519" cy="402336"/>
          </a:xfrm>
          <a:prstGeom prst="roundRect">
            <a:avLst/>
          </a:prstGeom>
          <a:solidFill>
            <a:srgbClr val="EAF1FF"/>
          </a:solidFill>
          <a:ln>
            <a:solidFill>
              <a:srgbClr val="CF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C4FD6"/>
                </a:solidFill>
                <a:latin typeface="Arial"/>
              </a:rPr>
              <a:t>07 ·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7276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4708A"/>
                </a:solidFill>
                <a:latin typeface="Arial"/>
              </a:rPr>
              <a:t>Self-authored, small-sample, reproducible — the commands are in docs/VERIFICATION.md.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148840"/>
            <a:ext cx="26060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359152"/>
            <a:ext cx="2240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1C4FD6"/>
                </a:solidFill>
                <a:latin typeface="Arial"/>
              </a:rPr>
              <a:t>92.7 %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C1424"/>
                </a:solidFill>
                <a:latin typeface="Arial"/>
              </a:rPr>
              <a:t>Message classifier F1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4708A"/>
                </a:solidFill>
                <a:latin typeface="Arial"/>
              </a:rPr>
              <a:t>P 95.0 · R 90.5 on 33 labelled messages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148840"/>
            <a:ext cx="26060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7" y="2359152"/>
            <a:ext cx="2240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1C4FD6"/>
                </a:solidFill>
                <a:latin typeface="Arial"/>
              </a:rPr>
              <a:t>11.7 ms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C1424"/>
                </a:solidFill>
                <a:latin typeface="Arial"/>
              </a:rPr>
              <a:t>Engine latency p50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4708A"/>
                </a:solidFill>
                <a:latin typeface="Arial"/>
              </a:rPr>
              <a:t>p95 31.5 ms over 5,000 runs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48840"/>
            <a:ext cx="26060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7" y="2359152"/>
            <a:ext cx="2240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1C4FD6"/>
                </a:solidFill>
                <a:latin typeface="Arial"/>
              </a:rPr>
              <a:t>139 / 139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C1424"/>
                </a:solidFill>
                <a:latin typeface="Arial"/>
              </a:rPr>
              <a:t>Assertions passing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4708A"/>
                </a:solidFill>
                <a:latin typeface="Arial"/>
              </a:rPr>
              <a:t>logic + UI + offline in a real browser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2148840"/>
            <a:ext cx="260604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3728" y="2359152"/>
            <a:ext cx="22402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1C4FD6"/>
                </a:solidFill>
                <a:latin typeface="Arial"/>
              </a:rPr>
              <a:t>8 / 8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0C1424"/>
                </a:solidFill>
                <a:latin typeface="Arial"/>
              </a:rPr>
              <a:t>Pages offline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4708A"/>
                </a:solidFill>
                <a:latin typeface="Arial"/>
              </a:rPr>
              <a:t>service-worker precache, verified cut-off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160520"/>
            <a:ext cx="5349240" cy="1965960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FDEC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43400"/>
            <a:ext cx="493776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33405A"/>
                </a:solidFill>
                <a:latin typeface="Arial"/>
              </a:rPr>
              <a:t>•  A missing default in a weight map made score NaN for unknown sources — silently pushing every verdict to LOW.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33405A"/>
                </a:solidFill>
                <a:latin typeface="Arial"/>
              </a:rPr>
              <a:t>•  A countdown was displayed at CRITICAL, implying the payment would unlock. It never does.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160520"/>
            <a:ext cx="5257800" cy="196596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AF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343400"/>
            <a:ext cx="484632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950" b="1" i="0">
                <a:solidFill>
                  <a:srgbClr val="1C4FD6"/>
                </a:solidFill>
                <a:latin typeface="Arial"/>
              </a:rPr>
              <a:t>THE HONEST BOUNDARY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33405A"/>
                </a:solidFill>
                <a:latin typeface="Arial"/>
              </a:rPr>
              <a:t>Two misses in the classifier are frauds carried by a phone number and a context text rules cannot see — exactly the gap the on-device signal chain closes.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33405A"/>
                </a:solidFill>
                <a:latin typeface="Arial"/>
              </a:rPr>
              <a:t>Payee-name verification against the bank record needs a PSP API. Until then, the app keeps saying: verify the name yourself.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7A2B6"/>
                </a:solidFill>
                <a:latin typeface="Arial"/>
              </a:rPr>
              <a:t>SatarkPay · सतर्कपे · SANGYAN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97A2B6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-1645920"/>
            <a:ext cx="5669280" cy="4206240"/>
          </a:xfrm>
          <a:prstGeom prst="ellipse">
            <a:avLst/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-1097280"/>
            <a:ext cx="5120640" cy="3840480"/>
          </a:xfrm>
          <a:prstGeom prst="ellipse">
            <a:avLst/>
          </a:prstGeom>
          <a:solidFill>
            <a:srgbClr val="F0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840480" y="5394960"/>
            <a:ext cx="4754880" cy="2377440"/>
          </a:xfrm>
          <a:prstGeom prst="ellipse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84048"/>
            <a:ext cx="7863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1C4FD6"/>
                </a:solidFill>
                <a:latin typeface="Arial"/>
              </a:rPr>
              <a:t>WHERE THIS GOES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76656"/>
            <a:ext cx="9326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0C1424"/>
                </a:solidFill>
                <a:latin typeface="Arial"/>
              </a:rPr>
              <a:t>Roadmap · team · thank you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26464"/>
            <a:ext cx="566928" cy="50292"/>
          </a:xfrm>
          <a:prstGeom prst="roundRect">
            <a:avLst/>
          </a:prstGeom>
          <a:solidFill>
            <a:srgbClr val="2F6B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46920" y="475488"/>
            <a:ext cx="1874519" cy="402336"/>
          </a:xfrm>
          <a:prstGeom prst="roundRect">
            <a:avLst/>
          </a:prstGeom>
          <a:solidFill>
            <a:srgbClr val="EAF1FF"/>
          </a:solidFill>
          <a:ln>
            <a:solidFill>
              <a:srgbClr val="CF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C4FD6"/>
                </a:solidFill>
                <a:latin typeface="Arial"/>
              </a:rPr>
              <a:t>08 · NEXT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91640"/>
            <a:ext cx="3520440" cy="251460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AF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874519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33405A"/>
                </a:solidFill>
                <a:latin typeface="Arial"/>
              </a:rPr>
              <a:t>•  Web + Android demo complete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33405A"/>
                </a:solidFill>
                <a:latin typeface="Arial"/>
              </a:rPr>
              <a:t>•  Rules R1–R38 + eval harness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33405A"/>
                </a:solidFill>
                <a:latin typeface="Arial"/>
              </a:rPr>
              <a:t>•  Evidence pack → 1930 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91640"/>
            <a:ext cx="3520440" cy="2514600"/>
          </a:xfrm>
          <a:prstGeom prst="roundRect">
            <a:avLst/>
          </a:prstGeom>
          <a:solidFill>
            <a:srgbClr val="F0ECFF"/>
          </a:solidFill>
          <a:ln w="12700">
            <a:solidFill>
              <a:srgbClr val="F0E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874519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33405A"/>
                </a:solidFill>
                <a:latin typeface="Arial"/>
              </a:rPr>
              <a:t>•  Signed, versioned pattern updates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33405A"/>
                </a:solidFill>
                <a:latin typeface="Arial"/>
              </a:rPr>
              <a:t>•  PSP payee-name verification hook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33405A"/>
                </a:solidFill>
                <a:latin typeface="Arial"/>
              </a:rPr>
              <a:t>•  District-level awareness pilot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91640"/>
            <a:ext cx="3520440" cy="2514600"/>
          </a:xfrm>
          <a:prstGeom prst="roundRect">
            <a:avLst/>
          </a:prstGeom>
          <a:solidFill>
            <a:srgbClr val="E6F8F1"/>
          </a:solidFill>
          <a:ln w="12700">
            <a:solidFill>
              <a:srgbClr val="E6F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1874519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33405A"/>
                </a:solidFill>
                <a:latin typeface="Arial"/>
              </a:rPr>
              <a:t>•  Android accessibility service gate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33405A"/>
                </a:solidFill>
                <a:latin typeface="Arial"/>
              </a:rPr>
              <a:t>•  Bank / PSP grievance integrations</a:t>
            </a:r>
          </a:p>
          <a:p>
            <a:pPr algn="l">
              <a:spcAft>
                <a:spcPts val="500"/>
              </a:spcAft>
            </a:pPr>
            <a:r>
              <a:rPr sz="1000" b="0" i="0">
                <a:solidFill>
                  <a:srgbClr val="33405A"/>
                </a:solidFill>
                <a:latin typeface="Arial"/>
              </a:rPr>
              <a:t>•  Vernacular voice in 8 languages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434840"/>
            <a:ext cx="108356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645152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C1424"/>
                </a:solidFill>
                <a:latin typeface="Arial"/>
              </a:rPr>
              <a:t>Team SCΛMURΛI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33405A"/>
                </a:solidFill>
                <a:latin typeface="Arial"/>
              </a:rPr>
              <a:t>Nishant Kumar · Prince Singh · Kartik Singh — SANGYAN 2026, SEBI × NSDL × SNTC, IIT-BHU</a:t>
            </a:r>
          </a:p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C4FD6"/>
                </a:solidFill>
                <a:latin typeface="Arial"/>
              </a:rPr>
              <a:t>“Paisa bhejne se pehle 60 second, fraud ke baad 60 minute.”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989320"/>
            <a:ext cx="10835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4708A"/>
                </a:solidFill>
                <a:latin typeface="Arial"/>
              </a:rPr>
              <a:t>Thank you — questions welcome.  ·  Live: sudonishant.github.io/satarkpay-repo/webapp/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97A2B6"/>
                </a:solidFill>
                <a:latin typeface="Arial"/>
              </a:rPr>
              <a:t>SatarkPay · सतर्कपे · SANGYAN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97A2B6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