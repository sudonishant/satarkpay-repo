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SANGYAN INVESTOR RESILIENCE HACKATHON · SEBI × NSDL × SNTC IIT-BHU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SatarkPay  ·  सतर्कपे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27248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 i="0">
                <a:solidFill>
                  <a:srgbClr val="C9D6E8"/>
                </a:solidFill>
                <a:latin typeface="Calibri"/>
              </a:rPr>
              <a:t>पैसे भेजने से पहले 60 सेकंड ·  धोखाधड़ी के बाद 60 मिनट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FB3CC"/>
                </a:solidFill>
                <a:latin typeface="Calibri"/>
              </a:rPr>
              <a:t>UPI fraud interception + evidence pipeline — 100% on-device, zero cloud,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FB3CC"/>
                </a:solidFill>
                <a:latin typeface="Calibri"/>
              </a:rPr>
              <a:t>koi SMS permission nahi, koi contacts access nahi.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00600"/>
            <a:ext cx="2011680" cy="4114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SCΛMURΛI — Nishant Kumar · Prince Singh · Kartik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F93AC"/>
                </a:solidFill>
                <a:latin typeface="Calibri"/>
              </a:rPr>
              <a:t>Live demo: sudonishant.github.io/satarkpay-repo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THE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रामू काका, 62 · Patna, 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46304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12064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10:42 AM   “Beta, bank se call aaya tha — KYC band ho raha hai.”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10:47 AM   Unhone ek app install karwaya. Screen unke paas chali gayi.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10:52 AM   ₹30,000 chale gaye. Teen alag UPI ID par.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11:40 AM   Bank ne kaha: “complaint kariye.”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               Portal khola — 14 fields, kya bharu?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Aaj tak:     paisa wapas nahi aaya.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5669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64008" cy="3108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Calibri"/>
              </a:rPr>
              <a:t>90 सेकंड में सब खत्म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88920"/>
            <a:ext cx="5029200" cy="21031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Fraud ka golden hour hai pehle 1–6 ghante.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Par sirf ~10% log us window me report kar paate hain — kyunki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ghabrahat me kisi ko nahi pata hota ki pehla kadam kya hai.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Hamara focus yahin hai: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   pehle roko  →  warna turant complaint pack taiyaar.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THE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यह कोई edge case नहीं है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50292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9B7A"/>
                </a:solidFill>
                <a:latin typeface="Calibri"/>
              </a:rPr>
              <a:t>₹1.6L Cr+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UPI पर हर महीने करोड़ों लेनदेन —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fraud surface बड़ा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6517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563EB"/>
                </a:solidFill>
                <a:latin typeface="Calibri"/>
              </a:rPr>
              <a:t>16+ करोड़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demat accounts, 70%+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non-metro / Tier-2-3 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651760" cy="5029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B7791F"/>
                </a:solidFill>
                <a:latin typeface="Calibri"/>
              </a:rPr>
              <a:t>9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individual F&amp;O traders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net loss me (SEBI study)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116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011680"/>
            <a:ext cx="2651760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33172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0392B"/>
                </a:solidFill>
                <a:latin typeface="Calibri"/>
              </a:rPr>
              <a:t>~10%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0175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hi log golden hour me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B85"/>
                </a:solidFill>
                <a:latin typeface="Calibri"/>
              </a:rPr>
              <a:t>report kar paate 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Access ne confidence ko overtake kar liya hai. Naye user ko UPI toh aata hai,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par ye nahi pata ki QR scan karke PIN daalne se पैसे मिलते नहीं — कटते हैं.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आज जो चेतावनी मिलती है, वह बहुत देर से मिलती है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0392B"/>
                </a:solidFill>
                <a:latin typeface="Calibri"/>
              </a:rPr>
              <a:t>❌  आज क्या होता है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754880" cy="1828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SMS alert पैसे कटने के बाद आता है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Bank dispute form 20+ fields ka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Screenshots bikhre hue, koi hash nahi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“क्या करूँ?” का जवाब किसी के पास नहीं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Recovery agent dobara paise maangta hai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64008" cy="2743200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A60"/>
                </a:solidFill>
                <a:latin typeface="Calibri"/>
              </a:rPr>
              <a:t>✅  SatarkPay क्या करता है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754880" cy="1828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पैसे जाने से पहले रोकता है (cooling-off)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एक tap me 1930 / NCRP complaint pack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Crop → redact → OCR → SHA-256 chain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हर step पर “अभी क्या करें” — हिंदी में</a:t>
            </a:r>
          </a:p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•  कोई recovery agent, कोई दूसरा 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6B85"/>
                </a:solidFill>
                <a:latin typeface="Calibri"/>
              </a:rPr>
              <a:t>Hamara does not compete with the bank — hum wo 90 second bharte hain jo bank aur user ke beech khali hai.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SatarkPay — ek line 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960120"/>
          </a:xfrm>
          <a:prstGeom prst="roundRect">
            <a:avLst/>
          </a:prstGeom>
          <a:solidFill>
            <a:srgbClr val="E8F5F1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64008" cy="960120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04241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0F172A"/>
                </a:solidFill>
                <a:latin typeface="Calibri"/>
              </a:rPr>
              <a:t>एक on-device layer जो आपके message, QR और payment intent को पैसे जाने से पहले पढ़ता है —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0F172A"/>
                </a:solidFill>
                <a:latin typeface="Calibri"/>
              </a:rPr>
              <a:t>और अगर पैसा चला जाए, तो 60 मिनट में complaint-ready evidence pack बना देता है.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Chat-Before-Pay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Screenshot Radar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Domain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SEBI 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AI Sanchalak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Intel 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1930 Auto-Report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77856" y="3017520"/>
            <a:ext cx="12984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77856" y="3200400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9B7A"/>
                </a:solidFill>
                <a:latin typeface="Calibri"/>
              </a:rPr>
              <a:t>M8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51008" y="3520440"/>
            <a:ext cx="1152144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Scam Library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B85"/>
                </a:solidFill>
                <a:latin typeface="Calibri"/>
              </a:rPr>
              <a:t>7 modules + 1 public-safety library · पूरी तरह offline · browser me bhi, Android app me bhi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B85"/>
                </a:solidFill>
                <a:latin typeface="Calibri"/>
              </a:rPr>
              <a:t>→  अभी live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Digital Arrest call — SatarkPay kya dekhta hai</a:t>
            </a:r>
          </a:p>
        </p:txBody>
      </p:sp>
      <p:pic>
        <p:nvPicPr>
          <p:cNvPr id="5" name="Picture 4" descr="01_digital_ar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463040"/>
            <a:ext cx="2584938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Calibri"/>
              </a:rPr>
              <a:t>SCAM LIKELY ·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291840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“CBI” + “video call”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+ “transfer to safe account”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+ “किसी को मत बताइए”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= Digital Arrest (F1)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Confidence 0.99 · 11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52044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7A60"/>
                </a:solidFill>
                <a:latin typeface="Calibri"/>
              </a:rPr>
              <a:t>अभी क्या करें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520440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1.  कॉल काटें — बात खत्म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2.  किसी “safe account” में पैसा न भेजें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3.  परिवार को बताएं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4.  1930 पर रिपोर्ट करें</a:t>
            </a: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5.  Number + profile save रखें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B85"/>
                </a:solidFill>
                <a:latin typeface="Calibri"/>
              </a:rPr>
              <a:t>Screenshot synthetic hai · demo purpose · कोई असली व्यक्ति का डेटा नहीं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4 अलग scam families — ek hi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517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kyc_a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38528"/>
            <a:ext cx="1767254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F2 · KYC / APK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6517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qr_ref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938528"/>
            <a:ext cx="1767254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F4 · QR refund 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26517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fake_j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938528"/>
            <a:ext cx="1767254" cy="3063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F3 · Fake job 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783080"/>
            <a:ext cx="26517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_screenshot_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2" y="1938528"/>
            <a:ext cx="4376057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52560" y="5120640"/>
            <a:ext cx="265176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Screenshot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B85"/>
                </a:solidFill>
                <a:latin typeface="Calibri"/>
              </a:rPr>
              <a:t>35+ deterministic rules · F1–F6 + general heuristics · हर verdict के साथ कारण और citation — “kyun” हमेशा दिखता है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अगर पैसा चला जाए — 1930 pack, 60 मिनट में</a:t>
            </a:r>
          </a:p>
        </p:txBody>
      </p:sp>
      <p:pic>
        <p:nvPicPr>
          <p:cNvPr id="5" name="Picture 4" descr="07_auto_report_1930_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600891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8521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A60"/>
                </a:solidFill>
                <a:latin typeface="Calibri"/>
              </a:rPr>
              <a:t>Evidence pipeline (CLI → app)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5852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377440"/>
            <a:ext cx="45720" cy="512064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crop_tool.py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459736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85"/>
                </a:solidFill>
                <a:latin typeface="Calibri"/>
              </a:rPr>
              <a:t>smart crop — status bar / nav / black bars हटाए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53512"/>
            <a:ext cx="5852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53512"/>
            <a:ext cx="45720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redaction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035808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85"/>
                </a:solidFill>
                <a:latin typeface="Calibri"/>
              </a:rPr>
              <a:t>account, phone, VPA, OTP — sab mask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29584"/>
            <a:ext cx="5852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29584"/>
            <a:ext cx="45720" cy="512064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118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85"/>
                </a:solidFill>
                <a:latin typeface="Calibri"/>
              </a:rPr>
              <a:t>offline RapidOCR — Devanagari + Latin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05656"/>
            <a:ext cx="5852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105656"/>
            <a:ext cx="45720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87952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187952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85"/>
                </a:solidFill>
                <a:latin typeface="Calibri"/>
              </a:rPr>
              <a:t>UPI ID · Txn · UTR · links · amounts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81728"/>
            <a:ext cx="5852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681728"/>
            <a:ext cx="45720" cy="512064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64024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hashes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764024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85"/>
                </a:solidFill>
                <a:latin typeface="Calibri"/>
              </a:rPr>
              <a:t>हर file ka SHA-256 → chain of custody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57800"/>
            <a:ext cx="58521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257800"/>
            <a:ext cx="45720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40096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pack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340096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85"/>
                </a:solidFill>
                <a:latin typeface="Calibri"/>
              </a:rPr>
              <a:t>NCRP-ready text (हिंदी + English) + email 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तीन बक्से — बस इतना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66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1 ·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017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Message paste / share</a:t>
            </a:r>
          </a:p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QR scan · screenshot</a:t>
            </a:r>
          </a:p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notification (consent)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A6B85"/>
                </a:solidFill>
                <a:latin typeface="Calibri"/>
              </a:rPr>
              <a:t>क्या आता है</a:t>
            </a:r>
          </a:p>
        </p:txBody>
      </p:sp>
      <p:sp>
        <p:nvSpPr>
          <p:cNvPr id="10" name="Can 9"/>
          <p:cNvSpPr/>
          <p:nvPr/>
        </p:nvSpPr>
        <p:spPr>
          <a:xfrm>
            <a:off x="4187952" y="3154680"/>
            <a:ext cx="457200" cy="256032"/>
          </a:xfrm>
          <a:prstGeom prst="can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5968" y="2011680"/>
            <a:ext cx="3566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011680"/>
            <a:ext cx="3566160" cy="54864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33172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9B7A"/>
                </a:solidFill>
                <a:latin typeface="Calibri"/>
              </a:rPr>
              <a:t>2 · ON-DEVICE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34640"/>
            <a:ext cx="3017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35+ rules · PII redaction</a:t>
            </a:r>
          </a:p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domain ladder · &lt;12 ms</a:t>
            </a:r>
          </a:p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network =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411480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A6B85"/>
                </a:solidFill>
                <a:latin typeface="Calibri"/>
              </a:rPr>
              <a:t>क्या सोचता है</a:t>
            </a:r>
          </a:p>
        </p:txBody>
      </p:sp>
      <p:sp>
        <p:nvSpPr>
          <p:cNvPr id="16" name="Can 15"/>
          <p:cNvSpPr/>
          <p:nvPr/>
        </p:nvSpPr>
        <p:spPr>
          <a:xfrm>
            <a:off x="7955280" y="3154680"/>
            <a:ext cx="457200" cy="256032"/>
          </a:xfrm>
          <a:prstGeom prst="can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2011680"/>
            <a:ext cx="3566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011680"/>
            <a:ext cx="356616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233172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3 ·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834640"/>
            <a:ext cx="3017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Cooling-off timer</a:t>
            </a:r>
          </a:p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“अभी क्या करें” · हिंदी voice</a:t>
            </a:r>
          </a:p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1930 / NCRP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411480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A6B85"/>
                </a:solidFill>
                <a:latin typeface="Calibri"/>
              </a:rPr>
              <a:t>क्या करता है</a:t>
            </a:r>
          </a:p>
        </p:txBody>
      </p:sp>
      <p:sp>
        <p:nvSpPr>
          <p:cNvPr id="22" name="Can 21"/>
          <p:cNvSpPr/>
          <p:nvPr/>
        </p:nvSpPr>
        <p:spPr>
          <a:xfrm>
            <a:off x="11722608" y="3154680"/>
            <a:ext cx="457200" cy="256032"/>
          </a:xfrm>
          <a:prstGeom prst="can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800600"/>
            <a:ext cx="11064240" cy="960120"/>
          </a:xfrm>
          <a:prstGeom prst="roundRect">
            <a:avLst/>
          </a:prstGeom>
          <a:solidFill>
            <a:srgbClr val="E8F5F1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4241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Rule engine deterministic hai — इसलिए हर verdict explainable hai (reason + citation).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AI optional hai, और cloud ko जाने से पहले PII redact हो जाती है.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numbers — measured, estimated nahi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4864" cy="1417320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85416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9B7A"/>
                </a:solidFill>
                <a:latin typeface="Calibri"/>
              </a:rPr>
              <a:t>95.0%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072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659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96596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85416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90.5%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072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659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65960"/>
            <a:ext cx="54864" cy="1417320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185416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9B7A"/>
                </a:solidFill>
                <a:latin typeface="Calibri"/>
              </a:rPr>
              <a:t>92.7%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8072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F1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66160"/>
            <a:ext cx="54864" cy="141732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785616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B7791F"/>
                </a:solidFill>
                <a:latin typeface="Calibri"/>
              </a:rPr>
              <a:t>11.7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074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p50 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5661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566160"/>
            <a:ext cx="54864" cy="1417320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9B7A"/>
                </a:solidFill>
                <a:latin typeface="Calibri"/>
              </a:rPr>
              <a:t>66/66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074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web smoke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5661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3566160"/>
            <a:ext cx="54864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785616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C0392B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4074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network calls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(inference 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B85"/>
                </a:solidFill>
                <a:latin typeface="Calibri"/>
              </a:rPr>
              <a:t>33 labelled messages · 5,000-run latency benchmark · p95 31.5 ms · p99 373 ms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B85"/>
                </a:solidFill>
                <a:latin typeface="Calibri"/>
              </a:rPr>
              <a:t>⚠ Eval set self-authored hai — ye ceiling hai, real-world estimate नहीं. Honest note deck me hai.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Privacy by design — सिर्फ claim नहीं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56692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482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4825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READ_SMS · READ_CONTACTS · QUERY_ALL_PACKAGES · Accessibility = ZERO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54864" cy="56692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8833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100% on-device. Inference me network call hi nahi hota.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54864" cy="56692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2841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2841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Sirf optional deep-analysis, aur उससे पहले PII redact हो जाती है.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" cy="56692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6849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96849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Raw screenshot turant delete; sirf hash + masked entities rehte hain.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8056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54864" cy="56692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0857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6085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Interception ke liye explicit opt-in — बिना पूछे कुछ नहीं पढ़ा जाता.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54864" cy="566928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486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24865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5"/>
                </a:solidFill>
                <a:latin typeface="Calibri"/>
              </a:rPr>
              <a:t>PS guardrail: कोई stock tip नहीं, कोई monetisation नहीं · DPDP-aligned.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B7791F"/>
                </a:solidFill>
                <a:latin typeface="Calibri"/>
              </a:rPr>
              <a:t>सीमा: Android app abhi manual-paste / share mode me hai. Notification-based auto-interception v2 me, explicit consent ke saath.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9B7A"/>
                </a:solidFill>
                <a:latin typeface="Calibri"/>
              </a:rPr>
              <a:t>HONESTY +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6692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हमने क्या नहीं बनाया, और सोमवार से क्या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5029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7791F"/>
                </a:solidFill>
                <a:latin typeface="Calibri"/>
              </a:rPr>
              <a:t>🔻  What we cut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846320" cy="3017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•  SMS auto-read — PS guardrail + privacy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Isliye humने notification-consent path चुना (v2)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•  Cloud ML — latency + PII risk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Isliye deterministic rules pehle, AI optional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•  Market-size slide — judge को product dikhना है,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report का number नहीं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•  “Recovery guarantee” — सच नहीं है,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इसलिए promise भी नहीं करते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394960" cy="50292"/>
          </a:xfrm>
          <a:prstGeom prst="rect">
            <a:avLst/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7A60"/>
                </a:solidFill>
                <a:latin typeface="Calibri"/>
              </a:rPr>
              <a:t>▶  What happens Monday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754880" cy="3017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1.  Share-target (WhatsApp → SatarkPay)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zero permission, aaj hi kaam karta hai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2.  Notification consent + dwell correlation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asli interception, opt-in ke saath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3.  Bhashini + IVR/USSD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10 regional languages · feature phone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4.  Live SEBI / NSDL registry check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     format validation se aage, asli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पैसे भेजने से पहले 60 सेकंड · धोखाधड़ी के बाद 60 मिनट  —  धन्यवाद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27648"/>
            <a:ext cx="7498079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85"/>
                </a:solidFill>
                <a:latin typeface="Calibri"/>
              </a:rPr>
              <a:t>SatarkPay · SANGYAN (SEBI × NSDL × SNTC IIT-BHU) · Team SCΛMURΛI — Nishant Kumar · Prince Singh · Kartik Singh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27648"/>
            <a:ext cx="4572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5A6B8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