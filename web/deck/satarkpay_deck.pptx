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88136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5400" b="1">
                <a:solidFill>
                  <a:srgbClr val="E8EEF9"/>
                </a:solidFill>
                <a:latin typeface="Segoe UI"/>
              </a:rPr>
              <a:t>SatarkPay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237744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200" b="0">
                <a:solidFill>
                  <a:srgbClr val="4CC9F0"/>
                </a:solidFill>
                <a:latin typeface="Segoe UI"/>
              </a:rPr>
              <a:t>UPI/wallet fraud se pehle rok do — aur fraud ho jaye to 3 minute me complaint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383280"/>
            <a:ext cx="108813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9FB0CC"/>
                </a:solidFill>
                <a:latin typeface="Segoe UI"/>
              </a:rPr>
              <a:t>SANGYAN · SEBI × NSDL × SNTC IIT (BHU) · Investor Resilience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9FB0CC"/>
                </a:solidFill>
                <a:latin typeface="Segoe UI"/>
              </a:rPr>
              <a:t>Track A (fraud/scam resilience) + Track B (grievance rights) + Track D (behaviour)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9FB0CC"/>
                </a:solidFill>
                <a:latin typeface="Segoe UI"/>
              </a:rPr>
              <a:t>2,443 registrations · 51 repos scan — 71% checker saturation; SatarkPay ke 3 axes ab bhi sabse patle</a:t>
            </a:r>
          </a:p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450" b="0">
                <a:solidFill>
                  <a:srgbClr val="9FB0CC"/>
                </a:solidFill>
                <a:latin typeface="Segoe UI"/>
              </a:rPr>
              <a:t>Live demo: sudonishant.github.io/satarkpay-repo · 7 modules · 1 asli fraud case par chala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CC9F0"/>
                </a:solidFill>
                <a:latin typeface="Segoe UI"/>
              </a:rPr>
              <a:t>SANGYAN guardrails ke andar: koi tip nahi, koi data harvest nahi — sirf suraksha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22376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Problem — scam ab “padhne” ka nahi, “hone” ka hai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16 crore+ demat accounts · 70% naye Tier-2/3 se · F&amp;O me 9/10 retail traders loss me (problem statement)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Aaj ke scam chat-se-shuru hote hain: WhatsApp/Telegram par baat → phir UPI app → phir paisa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Peer repos ka 77% kaam “message paste karo → score dekho” hai — yaani fraud ke BAAD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Recovery ka golden hour pehla 60 minute hai; usme sahi complaint ho jaye to freeze-trace ka mauka bachta hai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Asli case (humare evidence pack se): ₹5,000 evidence-visible loss, ₹30,625 maanga gaya, 9 scam families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Yaani asli problem do hisse ka hai: (1) payment se PEHLE rokna, (2) fraud ke turant baad evidence + complaint.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Solution map — ek journey, saat module</a:t>
            </a:r>
          </a:p>
        </p:txBody>
      </p:sp>
      <p:pic>
        <p:nvPicPr>
          <p:cNvPr id="5" name="Picture 4" descr="svg_journe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9648189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Lane 1 interception (peer me 0%) · Lane 2 parallel shields · Lane 3 evidence + turant action (R38).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M1 · Chat-Before-Pay — matrix, block nahi</a:t>
            </a:r>
          </a:p>
        </p:txBody>
      </p:sp>
      <p:pic>
        <p:nvPicPr>
          <p:cNvPr id="5" name="Picture 4" descr="svg_m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9554765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Saved contact ≈1 min (ya call-confirm) · unknown = 8 min guided · 10+ min chat ke baad payment = notification · officer/offer mila to T3 hold.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M1 live demo — teeno haalat</a:t>
            </a:r>
          </a:p>
        </p:txBody>
      </p:sp>
      <p:pic>
        <p:nvPicPr>
          <p:cNvPr id="5" name="Picture 4" descr="01a_saved_contact_fastpath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3474720" cy="243230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3831336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Saved + 2 min chat → 1:00 fast path</a:t>
            </a:r>
          </a:p>
        </p:txBody>
      </p:sp>
      <p:pic>
        <p:nvPicPr>
          <p:cNvPr id="7" name="Picture 6" descr="01b_known_12min_notific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43400" y="1325880"/>
            <a:ext cx="3474720" cy="243230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4343400" y="3831336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Saved + 12 min chat → notification</a:t>
            </a:r>
          </a:p>
        </p:txBody>
      </p:sp>
      <p:pic>
        <p:nvPicPr>
          <p:cNvPr id="9" name="Picture 8" descr="01c_unknown_hold_callbac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46720" y="1325880"/>
            <a:ext cx="3474720" cy="2432304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8046720" y="3831336"/>
            <a:ext cx="34747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Unknown + lambi chat → hold + callback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Timer sirf foreground dwell naapta hai; “It's me” dabane se notification nahi khulta — sawal ya trusted-person confirm chahiye.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M2 · Screenshot Radar + repeat-payment guard  |  M5 · Wallet &amp; AutoPay</a:t>
            </a:r>
          </a:p>
        </p:txBody>
      </p:sp>
      <p:pic>
        <p:nvPicPr>
          <p:cNvPr id="5" name="Picture 4" descr="02_screenshot_rada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26380" cy="3728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7498"/>
            <a:ext cx="53263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30 min me 3+ payment-screenshot = amber, 5+ = red</a:t>
            </a:r>
          </a:p>
        </p:txBody>
      </p:sp>
      <p:pic>
        <p:nvPicPr>
          <p:cNvPr id="7" name="Picture 6" descr="05_wallet_autopay_aud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325880"/>
            <a:ext cx="5326380" cy="3728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5060" y="5127498"/>
            <a:ext cx="53263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Daily/unknown mandate = red, one-tap revoke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R22: usi payee ko 24h me 3rd payment → cooling (staircase), 4th → hold. Screenshot ki image store nahi hoti — sirf entity + hash.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M3 · Domain Trust ladder  |  M4 · AI Sanchalak + registry check</a:t>
            </a:r>
          </a:p>
        </p:txBody>
      </p:sp>
      <p:pic>
        <p:nvPicPr>
          <p:cNvPr id="5" name="Picture 4" descr="03_domain_tru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26380" cy="3728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7498"/>
            <a:ext cx="53263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L1…L4 ladder + gateway≠merchant warning</a:t>
            </a:r>
          </a:p>
        </p:txBody>
      </p:sp>
      <p:pic>
        <p:nvPicPr>
          <p:cNvPr id="7" name="Picture 6" descr="08_m4_sebi_registry_neg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325880"/>
            <a:ext cx="5326380" cy="3385534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5060" y="4784566"/>
            <a:ext cx="53263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verdict + 3 reason + registry flag (R26)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R26: SEBI number ka format (INZ/INH/INA + 9 digits) + official portal domain check — “registered hai” kabhi certify nahi karte. R27: bank ka apna OTP-warning scam nahi ginta. R28: PII device par hi mask.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M6 · Intel Desk (live crawler)  |  M7 · Evidence pack</a:t>
            </a:r>
          </a:p>
        </p:txBody>
      </p:sp>
      <p:pic>
        <p:nvPicPr>
          <p:cNvPr id="5" name="Picture 4" descr="06_intel_desk_li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326380" cy="3728465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127498"/>
            <a:ext cx="53263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784 raw → 172 relevant → 63 novel (aaj)</a:t>
            </a:r>
          </a:p>
        </p:txBody>
      </p:sp>
      <p:pic>
        <p:nvPicPr>
          <p:cNvPr id="7" name="Picture 6" descr="07_auto_report_1930_p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95060" y="1325880"/>
            <a:ext cx="5326380" cy="3728465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6195060" y="5127498"/>
            <a:ext cx="53263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28 screenshots → crop · OCR · QR · redact · hash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M6 auto-publish nahi karta — analyst 15-second review ke baad hi registry update hota hai. M7 me NCRP text (HI+EN) + email + annexure CSV + ZIP, hashes ke saath.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R38 · Fraud CONFIRM — email + helpline + payment stop (3 kadam)</a:t>
            </a:r>
          </a:p>
        </p:txBody>
      </p:sp>
      <p:pic>
        <p:nvPicPr>
          <p:cNvPr id="5" name="Picture 4" descr="svg_emergenc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234440"/>
            <a:ext cx="9310656" cy="489204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User khud confirm karta hai; app draft/dialer/script ready karti hai — auto-send nahi. Golden-hour clock live chalta hai.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R38 live demo — emergency panel</a:t>
            </a:r>
          </a:p>
        </p:txBody>
      </p:sp>
      <p:pic>
        <p:nvPicPr>
          <p:cNvPr id="5" name="Picture 4" descr="11_emergency_confirm_a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2787445" cy="448056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40080" y="5879592"/>
            <a:ext cx="108813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50" b="0">
                <a:solidFill>
                  <a:srgbClr val="9FB0CC"/>
                </a:solidFill>
                <a:latin typeface="Segoe UI"/>
              </a:rPr>
              <a:t>3/3 steps · email draft (cyber cell 3 IDs) · 1930 call script · payment-stop (CFCFRMS)</a:t>
            </a:r>
          </a:p>
        </p:txBody>
      </p:sp>
      <p:sp>
        <p:nvSpPr>
          <p:cNvPr id="7" name="Rectangle 6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Optional step 4: parivaar/mohalla ko alert (masked numbers) — taaki agla victim na bane. Ye step user chaahe to skip kare.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Measured, guess nahi — 33-message eval harness</a:t>
            </a:r>
          </a:p>
        </p:txBody>
      </p:sp>
      <p:pic>
        <p:nvPicPr>
          <p:cNvPr id="5" name="Picture 4" descr="chart_e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532120" cy="3266286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417320"/>
            <a:ext cx="5532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Wahi engine jo user ke paste par chalta hai, wahi 33 labelled messages (22 scam + 11 legit) par — precision 95% · recall 90% · F1 93%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CAUTION alag bucket (soft catch / legit friction) aur “PAKA NAHI” bhi ek valid jawab — fake confidence nahi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Har miss aur false-alarm table me tag hote hain; set self-authored hai (ceiling, field accuracy nahi)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3 messages jaan-boojh ke rule-library ke bahar rakhe — taki honest buckets live dikhein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Competitive landscape — 51 repo scan (3 Oct 2026)</a:t>
            </a:r>
          </a:p>
        </p:txBody>
      </p:sp>
      <p:pic>
        <p:nvPicPr>
          <p:cNvPr id="5" name="Picture 4" descr="chart_landscap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" y="1325880"/>
            <a:ext cx="5532120" cy="3202632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035040" y="1417320"/>
            <a:ext cx="5532120" cy="4572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77% checker-saturation · 21/31 ke paas live demo hi nahi · registry check sirf 23% me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SatarkPay ke 3 axes peer me 0%: interception (chat→UPI), evidence-grade recovery, measured eval harness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Peer repos me licenses na ke barabar — humne zero code copy kiya, sirf ideas adopt kiye (credit: NOTICE.md)</a:t>
            </a:r>
          </a:p>
          <a:p>
            <a:pPr>
              <a:lnSpc>
                <a:spcPct val="112000"/>
              </a:lnSpc>
              <a:spcAft>
                <a:spcPts val="15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Purane risks (voice/regional/offline) bhi cover: Hindi voice, senior mode, poora demo offline chalta hai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Peer ideas → SatarkPay (credit + “kya nahi liya”)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" y="1234440"/>
          <a:ext cx="10881359" cy="3840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749039"/>
                <a:gridCol w="2834640"/>
                <a:gridCol w="4297680"/>
              </a:tblGrid>
              <a:tr h="548640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CC9F0"/>
                          </a:solidFill>
                          <a:latin typeface="Segoe UI"/>
                        </a:rPr>
                        <a:t>Peer repo (public)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CC9F0"/>
                          </a:solidFill>
                          <a:latin typeface="Segoe UI"/>
                        </a:rPr>
                        <a:t>Concept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4CC9F0"/>
                          </a:solidFill>
                          <a:latin typeface="Segoe UI"/>
                        </a:rPr>
                        <a:t>SatarkPay me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9"/>
                          </a:solidFill>
                          <a:latin typeface="Segoe UI"/>
                        </a:rPr>
                        <a:t>prakshithamalla-art/scam-shield-sangyan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negation-aware matching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R27 — bank ka OTP-warning scam nahi ginta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9"/>
                          </a:solidFill>
                          <a:latin typeface="Segoe UI"/>
                        </a:rPr>
                        <a:t>adityakr-git/sangyan (“Ruko”)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client-side redaction + local lists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R28 redactPII() · R26 inline registry lists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9"/>
                          </a:solidFill>
                          <a:latin typeface="Segoe UI"/>
                        </a:rPr>
                        <a:t>patelsachin9879-gif/Sangyan-Kavach + pyharshcodes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registry-number format validator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R26 sebiCheck() — format + domain + watch-list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9"/>
                          </a:solidFill>
                          <a:latin typeface="Segoe UI"/>
                        </a:rPr>
                        <a:t>anuragtiwari-ux/Sangyan-Suraksha (MIT)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measured test set + first-hour recovery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R37 eval harness · R30 “pehle 1 ghante”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9"/>
                          </a:solidFill>
                          <a:latin typeface="Segoe UI"/>
                        </a:rPr>
                        <a:t>surdish/scamshield-bharat · arcimillion/nivesh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senior mode · voice-first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senior mode · Hindi voice (Web Speech)</a:t>
                      </a:r>
                    </a:p>
                  </a:txBody>
                  <a:tcPr/>
                </a:tc>
              </a:tr>
              <a:tr h="548640"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E8EEF9"/>
                          </a:solidFill>
                          <a:latin typeface="Segoe UI"/>
                        </a:rPr>
                        <a:t>Kshitijsawant17/PATIBIMB · Algo-explorer/Grievance-Clock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deterministic rules · escalation ladder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sz="1250">
                          <a:solidFill>
                            <a:srgbClr val="9FB0CC"/>
                          </a:solidFill>
                          <a:latin typeface="Segoe UI"/>
                        </a:rPr>
                        <a:t>R31–R36 families · SCORES/SMART ODR rows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6" name="Rectangle 5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Zero code copying (30/31 par license nahi, 1 MIT) · koi peer dataset/UI/number quote nahi kiya · pehle jaisa “paste→score” kaam copy nahi kiya — sirf gaps bhare.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200" b="0">
                <a:solidFill>
                  <a:srgbClr val="4CC9F0"/>
                </a:solidFill>
                <a:latin typeface="Segoe UI"/>
              </a:rPr>
              <a:t>SANGYAN ke disqualification rules ka seedha jawab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722376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Guardrails + privacy (judges ke liye)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99616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Koi stock tip / buy-sell-hold / price prediction / trading algo nahi — R36 sirf “tip ka tareeka” ka risk batata hai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Koi monetisation funnel nahi; koi tip-group promotion nahi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Privacy by design: analysis se pehle client-side PII redaction (R28); demo me network call zero; OCR opt-in, image store nahi (sirf entity + hash)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Koi SMS/OTP/PII harvesting nahi — UsageStats/notification sirf on-device, permission + Play-policy note ke saath (docs/)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Sab verdict deterministic layer deta hai; LLM sirf samjhaata hai (production me 1 env var) — hallucination-safe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“Registered hai” certify karna, ya recovery ki guarantee dena — dono se saaf inkaar (honest limits slide)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Impact → Rubric mapping (30 · 25 · 15 · 15 · 15)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Resilience &amp; Safety Impact (30): interception + evidence-recovery + registry checks; asli case par end-to-end chala (₹5,000 evidence-visible)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Tier-2/3 Usability (25): Hinglish copy, Hindi voice, senior mode, offline demo, 8-min guided cooling (paisa nahi, samajh)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Guardrail Compliance &amp; Trust (15): privacy by design, no tips/no funnel, honest non-binary verdicts, credit file + limits slide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Technical Execution (15): 7 modules, 66 automated checks (jsdom), live eval harness, crawler (784→172→63), chain-of-custody hashing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Feasibility &amp; Scalability (15): Android parity path (UsageStats + NotificationListener), PSP/bank/telecom partner hooks, on-device-first architecture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Roadmap — 48 ghante me demo se device tak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h0–4: Kotlin/Compose skeleton — UsageStats listener + MediaStore observer + consent centre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h4–12: M1 matrix + M3 domain engine ko shared module (app + console parity test)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h12–20: M4 real LLM hookup (HI/EN) + library RAG + low-confidence → human queue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h20–30: M5 NotificationListener se mandate parse + revoke flow (synthetic bank notifications)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h30–40: M6 crawler cron + analyst console; M7 pack ko PSP/bank formats me export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h40–48: Red-team (mentor scripts), Hindi copy user-test, 3-min demo rehearsal ×5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Scale: on-device pehle, phir telecom (Sanchar Saathi) + PSP (UPI Help) + exchange (SCORES) hooks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Honest limits + kya hum NAHI karte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4CC9F0"/>
                </a:solidFill>
                <a:latin typeface="Segoe UI"/>
              </a:rPr>
              <a:t>Honest limits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78308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Telemetry permissions ke bina features degrade hote hain (iOS par M1/M2/M5 partial)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M1 “padha” nahi naap sakta — sirf “kitni der chat screen par the”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Screenshot ka source-domain 100% reliable nahi — evidence treat karte hain, verdict nahi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Eval set self-authored hai (ceiling); field calibration ke liye PS/bank data chahiye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Recovery ki guarantee nahi — hum sirf time-optimised steps dete hain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309360" y="1325880"/>
            <a:ext cx="53035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1700" b="1">
                <a:solidFill>
                  <a:srgbClr val="4CC9F0"/>
                </a:solidFill>
                <a:latin typeface="Segoe UI"/>
              </a:rPr>
              <a:t>Kya NAHI karte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783080"/>
            <a:ext cx="5303520" cy="4206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Koi auto-block nahi — payment rukta hai, final call user ki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WhatsApp automation / READ_SMS / QUERY_ALL_PACKAGES / Accessibility abuse nahi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Koi stock tip, price prediction, ya “guaranteed return” messaging nahi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Koi auto-send email/call nahi — draft + dialer + script dete hain, bhejna user ke tap par</a:t>
            </a:r>
          </a:p>
          <a:p>
            <a:pPr>
              <a:lnSpc>
                <a:spcPct val="112000"/>
              </a:lnSpc>
              <a:spcAft>
                <a:spcPts val="1300"/>
              </a:spcAft>
            </a:pPr>
            <a:r>
              <a:rPr sz="1500" b="0">
                <a:solidFill>
                  <a:srgbClr val="E8EEF9"/>
                </a:solidFill>
                <a:latin typeface="Segoe UI"/>
              </a:rPr>
              <a:t>•  Peer repos se code copy nahi (licenses nahi hain) — sirf ideas, credit ke saath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4CC9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88136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800"/>
              </a:spcAft>
            </a:pPr>
            <a:r>
              <a:rPr sz="2700" b="1">
                <a:solidFill>
                  <a:srgbClr val="E8EEF9"/>
                </a:solidFill>
                <a:latin typeface="Segoe UI"/>
              </a:rPr>
              <a:t>Team SCΛMURΛI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234440"/>
            <a:ext cx="10881360" cy="4846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Live demo: satarkpay-m2/demo/satarkpay_m2.html (offline, 66/66 checks pass)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Evidence pack: case_evidence/ (28 screenshots, hashes, complaint drafts)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Idea credit: BORROW_LIST.md · OSINT report: OSINT_REPORT.md · rules: rules_R15_R25.json + rules_R26_R38.json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E8EEF9"/>
                </a:solidFill>
                <a:latin typeface="Segoe UI"/>
              </a:rPr>
              <a:t>•  Crawler: scam_intel/intel_crawler.py (aaj: 784 raw → 172 relevant → 63 novel)</a:t>
            </a:r>
          </a:p>
          <a:p>
            <a:pPr>
              <a:lnSpc>
                <a:spcPct val="112000"/>
              </a:lnSpc>
              <a:spcAft>
                <a:spcPts val="1400"/>
              </a:spcAft>
            </a:pPr>
            <a:r>
              <a:rPr sz="1700" b="0">
                <a:solidFill>
                  <a:srgbClr val="9FB0CC"/>
                </a:solidFill>
                <a:latin typeface="Segoe UI"/>
              </a:rPr>
              <a:t>•  SANGYAN submission: 4 Oct, 11:59 PM IST · demo + 3–5 min video + ye deck</a:t>
            </a:r>
          </a:p>
        </p:txBody>
      </p:sp>
      <p:sp>
        <p:nvSpPr>
          <p:cNvPr id="6" name="Rectangle 5"/>
          <p:cNvSpPr/>
          <p:nvPr/>
        </p:nvSpPr>
        <p:spPr>
          <a:xfrm>
            <a:off x="640080" y="6382512"/>
            <a:ext cx="10881360" cy="9000"/>
          </a:xfrm>
          <a:prstGeom prst="rect">
            <a:avLst/>
          </a:prstGeom>
          <a:solidFill>
            <a:srgbClr val="22304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6419088"/>
            <a:ext cx="108813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lnSpc>
                <a:spcPct val="112000"/>
              </a:lnSpc>
              <a:spcAft>
                <a:spcPts val="0"/>
              </a:spcAft>
            </a:pPr>
            <a:r>
              <a:rPr sz="1100" b="0">
                <a:solidFill>
                  <a:srgbClr val="9FB0CC"/>
                </a:solidFill>
                <a:latin typeface="Segoe UI"/>
              </a:rPr>
              <a:t>“Paisa bhejne se pehle 60 second — aur fraud ke baad 60 minute. Dono humare paas hain.”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