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solidFill>
              <a:srgbClr val="080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rial"/>
              </a:defRPr>
            </a:pPr>
            <a:r>
              <a:t>🛡️ SatarkPay (सतर्कपे)</a:t>
            </a:r>
          </a:p>
          <a:p>
            <a:pPr>
              <a:spcBef>
                <a:spcPts val="800"/>
              </a:spcBef>
              <a:defRPr sz="2100">
                <a:solidFill>
                  <a:srgbClr val="00F2FE"/>
                </a:solidFill>
                <a:latin typeface="Arial"/>
              </a:defRPr>
            </a:pPr>
            <a:r>
              <a:t>Next-Gen Real-Time UPI Fraud Interception &amp; Evidence Chain-of-Custody Pipeline</a:t>
            </a:r>
          </a:p>
          <a:p>
            <a:pPr>
              <a:spcBef>
                <a:spcPts val="1400"/>
              </a:spcBef>
              <a:defRPr sz="1500">
                <a:solidFill>
                  <a:srgbClr val="E2E8F0"/>
                </a:solidFill>
                <a:latin typeface="Arial"/>
              </a:defRPr>
            </a:pPr>
            <a:r>
              <a:t>“Paisa bhejne se pehle 60 second — aur fraud ke baad 60 minute. Dono par SatarkPay ka pehra hai.”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2423160" cy="1371600"/>
          </a:xfrm>
          <a:prstGeom prst="roundRect">
            <a:avLst/>
          </a:prstGeom>
          <a:solidFill>
            <a:srgbClr val="111A2E"/>
          </a:solidFill>
          <a:ln w="177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584448"/>
            <a:ext cx="214884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Arial"/>
              </a:defRPr>
            </a:pPr>
            <a:r>
              <a:t>60s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Pre-Pay Interception</a:t>
            </a:r>
          </a:p>
          <a:p>
            <a:pPr algn="ctr"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Dwell &amp; Radar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3474720"/>
            <a:ext cx="2423160" cy="1371600"/>
          </a:xfrm>
          <a:prstGeom prst="roundRect">
            <a:avLst/>
          </a:prstGeom>
          <a:solidFill>
            <a:srgbClr val="111A2E"/>
          </a:solidFill>
          <a:ln w="1778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3584448"/>
            <a:ext cx="214884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00F2FE"/>
                </a:solidFill>
                <a:latin typeface="Arial"/>
              </a:defRPr>
            </a:pPr>
            <a:r>
              <a:t>&lt;12ms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Edge AI Latency</a:t>
            </a:r>
          </a:p>
          <a:p>
            <a:pPr algn="ctr"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Deterministic Rules R1-R38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474720"/>
            <a:ext cx="2423160" cy="1371600"/>
          </a:xfrm>
          <a:prstGeom prst="roundRect">
            <a:avLst/>
          </a:prstGeom>
          <a:solidFill>
            <a:srgbClr val="111A2E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3584448"/>
            <a:ext cx="214884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100%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On-Device DPDP</a:t>
            </a:r>
          </a:p>
          <a:p>
            <a:pPr algn="ctr"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Zero Cloud Plaintext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3474720"/>
            <a:ext cx="2423160" cy="1371600"/>
          </a:xfrm>
          <a:prstGeom prst="roundRect">
            <a:avLst/>
          </a:prstGeom>
          <a:solidFill>
            <a:srgbClr val="111A2E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3584448"/>
            <a:ext cx="214884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Arial"/>
              </a:defRPr>
            </a:pPr>
            <a:r>
              <a:t>60m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Golden Hour Recovery</a:t>
            </a:r>
          </a:p>
          <a:p>
            <a:pPr algn="ctr"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1-Click 1930 / CFCFRMS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212080"/>
            <a:ext cx="10362895" cy="822960"/>
          </a:xfrm>
          <a:prstGeom prst="roundRect">
            <a:avLst/>
          </a:prstGeom>
          <a:solidFill>
            <a:srgbClr val="0C1221"/>
          </a:solidFill>
          <a:ln w="1524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321808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2FE"/>
                </a:solidFill>
              </a:defRPr>
            </a:pPr>
            <a:r>
              <a:t>SANGYAN HACKATHON · SEBI × NSDL × SNTC, IIT-BHU  |  Tracks: A (Resilience) · B (Grievance) · D (Behavioral)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Team SCΛMURΛI: Nishant Kumar (Architecture &amp; Android) · Prince Singh (Crawler &amp; Evidence) · Kartik Singh (UI &amp; Eval)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1E2D4A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SatarkPay · SANGYAN Hackathon (SEBI × NSDL × SNTC, IIT-BHU) · Team SCΛMURΛI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2FE"/>
                </a:solidFill>
                <a:latin typeface="Arial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solidFill>
              <a:srgbClr val="080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The Cognitive Trap of Modern UPI Fraud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457200"/>
            <a:ext cx="155448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  <a:latin typeface="Arial"/>
              </a:defRPr>
            </a:pPr>
            <a:r>
              <a:t>MARKET REALITY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47548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Why Existing Fraud Solutions Fail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Scam message padhne se nahi, real-time social engineering aur psychological coercion se hota hai.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Traditional tools sirf 'Paste message -&gt; Check score' karte hain — yaani fraud ho jaane ke BAAD.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Digital Arrest, Fake Police calls, aur Task investment scams victim ko continuous call/chat par engage rakhte hain.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Victim se WhatsApp/Telegram se seedhe UPI app (GPay/PhonePe/Paytm) switch karwaya jata hai under 60 seconds.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First-time Tier-2/3 investors (16 Crore+ Demat accounts) are primary targets with zero prior exposure to financial manipulation.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12080" cy="22402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9047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Window 1: 60 Seconds Pre-Payment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Foreground dwell monitoring: Chat session se UPI app transition.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Critical moment: User PIN daalne se pehle 60 second ka cognitive cooling gate chahiye taaki pressure toota ja sake.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212080" cy="22402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00507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Window 2: 60 Minutes Golden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343400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Fraud hone ke baad pehla 60 minute hi fund freeze ka asli mauka hota hai.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Victims panicking in isolation struggle to find transaction UTR, cyber cell emails, and official 1930 scripts.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1E2D4A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SatarkPay · SANGYAN Hackathon (SEBI × NSDL × SNTC, IIT-BHU) · Team SCΛMURΛI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2FE"/>
                </a:solidFill>
                <a:latin typeface="Arial"/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solidFill>
              <a:srgbClr val="080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3-Tier Defense Shield: Full Journey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457200"/>
            <a:ext cx="155448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  <a:latin typeface="Arial"/>
              </a:defRPr>
            </a:pPr>
            <a:r>
              <a:t>CORE INNOVATION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474720" cy="47548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⚡ LANE 1: PRE-PAYMENT INTERCEPTION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30175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M1 Chat-Before-Pay Guard: Foreground dwell timer + contact length matrix.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M2 Screenshot Radar: Burst receipt detection (3+ receipts in 30m).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M3 Domain Ladder: 4-level domain trust + Gateway ≠ Merchant warning.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Deterministic cooling delays (1m to 8m) — zero auto-blocks.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47548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9047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🛡️ LANE 2: IN-FLIGHT COGNITIVE FRICTION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0175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M4 AI Sanchalak: On-device intent classifier with 3 honest decision buckets.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SEBI / NSDL Registry format validation (INZ/INH/INA + 9 digits).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Negation-Aware matching (Bank OTP warnings flag nahi hote).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Vernacular Hindi Voice TTS + Senior Mode AAA accessibility.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25880"/>
            <a:ext cx="3474720" cy="47548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49047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🚨 LANE 3: GOLDEN HOUR POST-FRAUD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920240"/>
            <a:ext cx="30175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M7 Evidence Dossier: Automated OCR, PII masking, SHA-256 integrity hashes.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R38 Instant SOS Trio: Pre-composed Cyber Cell email with bank CC.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Helpline 1930 operator script + CFCFRMS payment freeze request.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Follow-up grievance routing: SEBI SCORES 2.0 &amp; SMART ODR.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1E2D4A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SatarkPay · SANGYAN Hackathon (SEBI × NSDL × SNTC, IIT-BHU) · Team SCΛMURΛI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2FE"/>
                </a:solidFill>
                <a:latin typeface="Arial"/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solidFill>
              <a:srgbClr val="080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PRE-PAYMENT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M1 · Chat-Before-Pay: Intelligent Dwell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457200"/>
            <a:ext cx="155448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  <a:latin typeface="Arial"/>
              </a:defRPr>
            </a:pPr>
            <a:r>
              <a:t>MODULE M1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669280" cy="47548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Usage Dwell × Contact Relationship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5212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Known Contact + Short Chat (&lt;8m): FAST PATH — 1 min countdown ya 1-tap call-to-confirm.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Known Contact + Long Chat (&gt;10m): CAUTION ALERT — Account takeover / coercion alert.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Unknown Number + Short Chat (&lt;8m): COOLING PERIOD — 8-min guided verification + 3 reflective questions.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Unknown Number + Long Chat (&gt;8m): HARD HOLD — High probability digital arrest; Tier-3 analyst callback required.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Zero Arbitrary Blocks: SatarkPay introduces cognitive delays — user always holds the final sovereign authority.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325880"/>
            <a:ext cx="4754880" cy="47548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490472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Real-Time Mobile Simulation</a:t>
            </a:r>
          </a:p>
        </p:txBody>
      </p:sp>
      <p:pic>
        <p:nvPicPr>
          <p:cNvPr id="11" name="Picture 10" descr="01a_saved_contact_fast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874519"/>
            <a:ext cx="2057400" cy="1440180"/>
          </a:xfrm>
          <a:prstGeom prst="rect">
            <a:avLst/>
          </a:prstGeom>
        </p:spPr>
      </p:pic>
      <p:pic>
        <p:nvPicPr>
          <p:cNvPr id="12" name="Picture 11" descr="01c_unknown_hold_call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874519"/>
            <a:ext cx="2057400" cy="14401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1E2D4A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SatarkPay · SANGYAN Hackathon (SEBI × NSDL × SNTC, IIT-BHU) · Team SCΛMURΛI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2FE"/>
                </a:solidFill>
                <a:latin typeface="Arial"/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solidFill>
              <a:srgbClr val="080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MULTI-VECTOR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M2 &amp; M3 · Screenshot Radar &amp; Domain Trust Ladder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457200"/>
            <a:ext cx="155448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  <a:latin typeface="Arial"/>
              </a:defRPr>
            </a:pPr>
            <a:r>
              <a:t>MODULES M2 &amp; M3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47548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M2: Screenshot Radar (Rules R17, R22)</a:t>
            </a:r>
          </a:p>
        </p:txBody>
      </p:sp>
      <p:pic>
        <p:nvPicPr>
          <p:cNvPr id="8" name="Picture 7" descr="02_screenshot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19"/>
            <a:ext cx="2194560" cy="15361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91840" y="1874519"/>
            <a:ext cx="2468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 Burst Detection: Flags 3+ fake payment receipts captured in 30 min (task scam pattern).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 Staircase Velocity: Flags repeat payments to same new payee within 24h.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 Privacy: Raw screenshots are purged post-OCR; only entities and SHA-256 hashes are preserved.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47548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M3: 4-Tier Domain Trust Ladder (R18, R26)</a:t>
            </a:r>
          </a:p>
        </p:txBody>
      </p:sp>
      <p:pic>
        <p:nvPicPr>
          <p:cNvPr id="12" name="Picture 11" descr="03_domain_tr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74519"/>
            <a:ext cx="2194560" cy="15361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8240" y="1874519"/>
            <a:ext cx="2468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 L1 Verified: Official regulatory &amp; banking domains (sebi.gov.in, rbi.org.in).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 L2 Merchant: Verified payment gateways.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 L3 Unverified Clean: Amber advisory friction.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 L4 Malicious Lookalike: Typosquatting, punycode &amp; IP-literal URLs.</a:t>
            </a:r>
          </a:p>
          <a:p>
            <a:pPr>
              <a:spcAft>
                <a:spcPts val="7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 Gateway ≠ Merchant Mismatch: Flags legit payment gateway checkout hosting unverified fraudulent sellers.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1E2D4A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SatarkPay · SANGYAN Hackathon (SEBI × NSDL × SNTC, IIT-BHU) · Team SCΛMURΛI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2FE"/>
                </a:solidFill>
                <a:latin typeface="Arial"/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solidFill>
              <a:srgbClr val="080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ZERO-CLOUD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M4 · AI Sanchalak: Deterministic Edge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457200"/>
            <a:ext cx="155448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  <a:latin typeface="Arial"/>
              </a:defRPr>
            </a:pPr>
            <a:r>
              <a:t>MODULE M4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669280" cy="47548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On-Device Intent Scanner &amp; Registry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5212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SEBI / NSDL Registration Check (R26): Validates intermediary registration number syntax (INZ/INH/INA + 9 digits) against official portal rules.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Negation Understanding (R27): Recognizes legitimate banking safety alerts ('Bank will NEVER ask for OTP') without triggering false alarms.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Client-Side PII Redaction (R28): Phone numbers, account numbers, Aadhaar, and VPAs are automatically masked on-device before rule evaluation.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3 Honest Decision Buckets: 'SCAM LIKELY', 'CAUTION' (soft friction), and 'UNSURE' — avoiding dangerous false confidence.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Accessibility: Full Hindi Voice TTS synthesis + Senior AAA Mode (+25% font scale, high contrast).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325880"/>
            <a:ext cx="4754880" cy="47548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490472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M4 Engine Live Evaluation</a:t>
            </a:r>
          </a:p>
        </p:txBody>
      </p:sp>
      <p:pic>
        <p:nvPicPr>
          <p:cNvPr id="11" name="Picture 10" descr="08_m4_sebi_registry_ne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920240"/>
            <a:ext cx="4297680" cy="273167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1E2D4A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SatarkPay · SANGYAN Hackathon (SEBI × NSDL × SNTC, IIT-BHU) · Team SCΛMURΛI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2FE"/>
                </a:solidFill>
                <a:latin typeface="Arial"/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solidFill>
              <a:srgbClr val="080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INCIDENT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M7 &amp; R38 · Golden Hour Emergency Action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457200"/>
            <a:ext cx="155448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  <a:latin typeface="Arial"/>
              </a:defRPr>
            </a:pPr>
            <a:r>
              <a:t>MODULE M7 &amp; R38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669280" cy="47548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The 1-Click Disaster Recovery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5212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Golden-Hour Live Clock: 60-minute countdown tracking the critical window for banking inter-bank freeze.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1. Instant Cyber Cell Email: Pre-composed complaint addressed to district cyber cell with automatic bank nodal officer in CC.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2. 1930 Helpline Call Script: Integrated dialer + structured script providing victim with UTR, txn ID, and timestamp at glance.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3. Immediate Payment Stop &amp; Lien Request: Invokes CFCFRMS inter-bank dispute protocol with temporary account freeze advice.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Chain of Custody: Automatic compilation of cropped screenshots, OCR text, and SHA-256 tamper-evident hashes.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325880"/>
            <a:ext cx="4754880" cy="47548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490472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R38 Emergency Panel</a:t>
            </a:r>
          </a:p>
        </p:txBody>
      </p:sp>
      <p:pic>
        <p:nvPicPr>
          <p:cNvPr id="11" name="Picture 10" descr="11_emergency_confirm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920240"/>
            <a:ext cx="4297680" cy="690812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1E2D4A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SatarkPay · SANGYAN Hackathon (SEBI × NSDL × SNTC, IIT-BHU) · Team SCΛMURΛI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2FE"/>
                </a:solidFill>
                <a:latin typeface="Arial"/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solidFill>
              <a:srgbClr val="080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MOBILE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Native Android App: Modern White Fintech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457200"/>
            <a:ext cx="155448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  <a:latin typeface="Arial"/>
              </a:defRPr>
            </a:pPr>
            <a:r>
              <a:t>KOTLIN &amp; COMPOSE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47548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Production Native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Modern Kotlin &amp; Jetpack Compose: 100% declarative UI with clean architecture.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Clean White Fintech Theme: High-contrast surfaces (#FFFFFF), soft canvas (#F8FAFC), and vibrant fintech cyan/emerald accents.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AndroidX Room Database: All alerts, evidence logs, and threat digests stored in local encrypted SQLite.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Lightweight Footprint: Zero heavy bloat, pre-compiled debug APK is only 23 MB.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Ready To Deploy: SatarkPay-WhiteTheme.apk available for immediate device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12080" cy="47548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9047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Android Features &amp; Screen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HomeScreen: Live threat status, dwell radar cards, and 1-tap quick actions.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SanchalakChatScreen: Interactive Vernacular AI assistant with voice playback.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ScreenshotRadarScreen: On-device OCR evidence extractor and burst detector.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EmergencyActionScreen: Full R38 emergency workflow with live golden-hour timer.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AnalystConsoleScreen: Telemetry inspection, audit logs, and fraud rule explorer.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1E2D4A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SatarkPay · SANGYAN Hackathon (SEBI × NSDL × SNTC, IIT-BHU) · Team SCΛMURΛI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2FE"/>
                </a:solidFill>
                <a:latin typeface="Arial"/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solidFill>
              <a:srgbClr val="080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Measured, Not Guessed: Empirical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457200"/>
            <a:ext cx="155448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  <a:latin typeface="Arial"/>
              </a:defRPr>
            </a:pPr>
            <a:r>
              <a:t>BENCHMARKS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468880" cy="1371600"/>
          </a:xfrm>
          <a:prstGeom prst="roundRect">
            <a:avLst/>
          </a:prstGeom>
          <a:solidFill>
            <a:srgbClr val="111A2E"/>
          </a:solidFill>
          <a:ln w="177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35607"/>
            <a:ext cx="219456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Arial"/>
              </a:defRPr>
            </a:pPr>
            <a:r>
              <a:t>95.2%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Precision</a:t>
            </a:r>
          </a:p>
          <a:p>
            <a:pPr algn="ctr"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Minimal False Alarms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25880"/>
            <a:ext cx="2468880" cy="1371600"/>
          </a:xfrm>
          <a:prstGeom prst="roundRect">
            <a:avLst/>
          </a:prstGeom>
          <a:solidFill>
            <a:srgbClr val="111A2E"/>
          </a:solidFill>
          <a:ln w="1778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435607"/>
            <a:ext cx="219456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00F2FE"/>
                </a:solidFill>
                <a:latin typeface="Arial"/>
              </a:defRPr>
            </a:pPr>
            <a:r>
              <a:t>90.9%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Recall</a:t>
            </a:r>
          </a:p>
          <a:p>
            <a:pPr algn="ctr"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High Catch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25880"/>
            <a:ext cx="2468880" cy="1371600"/>
          </a:xfrm>
          <a:prstGeom prst="roundRect">
            <a:avLst/>
          </a:prstGeom>
          <a:solidFill>
            <a:srgbClr val="111A2E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435607"/>
            <a:ext cx="219456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93.0%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F1 Score</a:t>
            </a:r>
          </a:p>
          <a:p>
            <a:pPr algn="ctr"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Harmonic Balance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325880"/>
            <a:ext cx="2468880" cy="1371600"/>
          </a:xfrm>
          <a:prstGeom prst="roundRect">
            <a:avLst/>
          </a:prstGeom>
          <a:solidFill>
            <a:srgbClr val="111A2E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435607"/>
            <a:ext cx="219456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Arial"/>
              </a:defRPr>
            </a:pPr>
            <a:r>
              <a:t>&lt;12ms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Edge Latency</a:t>
            </a:r>
          </a:p>
          <a:p>
            <a:pPr algn="ctr">
              <a:spcBef>
                <a:spcPts val="200"/>
              </a:spcBef>
              <a:defRPr sz="950">
                <a:solidFill>
                  <a:srgbClr val="94A3B8"/>
                </a:solidFill>
                <a:latin typeface="Arial"/>
              </a:defRPr>
            </a:pPr>
            <a:r>
              <a:t>Deterministic Execution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5212080" cy="320040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09067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Confusion Matrix &amp; Evaluation Set</a:t>
            </a:r>
          </a:p>
        </p:txBody>
      </p:sp>
      <p:pic>
        <p:nvPicPr>
          <p:cNvPr id="16" name="Picture 15" descr="chart_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429000"/>
            <a:ext cx="4754880" cy="2807387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17920" y="2926080"/>
            <a:ext cx="5212080" cy="320040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09067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Automated 66-Point Test Assertion Suite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29000"/>
            <a:ext cx="466344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smoke_test.js: 66 automated state-machine &amp; DOM assertions pass with 100% success.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Evaluated across 33 stratified test messages (22 adversarial scams + 11 legitimate banking alerts).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Zero Network Dependencies: Rule matching and regex parsing execute 100% offline.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Transparent Error Tagging: Every miss and friction item is visibly classified.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1E2D4A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SatarkPay · SANGYAN Hackathon (SEBI × NSDL × SNTC, IIT-BHU) · Team SCΛMURΛI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2FE"/>
                </a:solidFill>
                <a:latin typeface="Arial"/>
              </a:defRPr>
            </a:pPr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solidFill>
              <a:srgbClr val="080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PRIVACY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Privacy By Design: DPDP Act 2023 Conformance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457200"/>
            <a:ext cx="155448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  <a:latin typeface="Arial"/>
              </a:defRPr>
            </a:pPr>
            <a:r>
              <a:t>ZERO COMPROMISE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47548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What SatarkPay Strictly Avoids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❌ No Continuous Screen Recording: SatarkPay never records screen video or reads private chats.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❌ No Invasive Android Permissions: Strictly avoids READ_SMS, READ_CONTACTS, or QUERY_ALL_PACKAGES.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❌ No Background Accessibility Scraping: Avoids malware-like accessibility service abuse.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❌ No Raw PII Storage: Screenshots are purged after OCR; only masked hashes are kept locally.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❌ No Cloud Plaintext Transmission: Zero user messages or telemetry leave the local device.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12080" cy="47548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9047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Architectural Privacy Guarantees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✅ Client-Side Redaction (R28): Phone numbers, VPAs, and Aadhaar masked before engine processing.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✅ User-Controlled Actions: No auto-sending of emails or emergency calls; user triggers every transmission.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✅ Local Cryptographic Hashing: Tamper-evident SHA-256 evidence chain stored in private sandbox.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✅ Public Good Ethos: Zero monetization funnels, zero trading tips, zero financial data selling.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1E2D4A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SatarkPay · SANGYAN Hackathon (SEBI × NSDL × SNTC, IIT-BHU) · Team SCΛMURΛI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2FE"/>
                </a:solidFill>
                <a:latin typeface="Arial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solidFill>
              <a:srgbClr val="080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Scalability &amp; Regulatory Integration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457200"/>
            <a:ext cx="155448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  <a:latin typeface="Arial"/>
              </a:defRPr>
            </a:pPr>
            <a:r>
              <a:t>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474720" cy="47548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1: CLIENT-SIDE APP (NOW)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30175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Standalone Android Kotlin App + Ready APK.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Interactive Web Cyber Simulator for browser use.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On-device 38 deterministic threat rules.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60s Pre-Pay &amp; 60m Post-Fraud Golden Hour pipeline.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47548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9047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2: UPI GATEWAY &amp; PSP 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0175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Embed SatarkPay Engine as SDK inside UPI apps.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Pre-transaction dwell hook inside GPay, PhonePe, Paytm.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Merchant verification against NPCI registry.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Over-The-Air (OTA) threat intelligence rule updates.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25880"/>
            <a:ext cx="3474720" cy="47548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49047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3: NATIONAL REGULATORY MESH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920240"/>
            <a:ext cx="30175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Direct API integration with SEBI SCORES 2.0.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Automated docket submission to I4C / CFCFRMS 1930.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DoT Sanchar Saathi Chakshu reporting bridge.</a:t>
            </a:r>
          </a:p>
          <a:p>
            <a:pPr>
              <a:spcAft>
                <a:spcPts val="7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 Collaborative banking fraud telemetry exchange.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1E2D4A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SatarkPay · SANGYAN Hackathon (SEBI × NSDL × SNTC, IIT-BHU) · Team SCΛMURΛI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2FE"/>
                </a:solidFill>
                <a:latin typeface="Arial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solidFill>
              <a:srgbClr val="080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SatarkPay: Ready For Real-World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457200"/>
            <a:ext cx="1554480" cy="384048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2FE"/>
                </a:solidFill>
                <a:latin typeface="Arial"/>
              </a:defRPr>
            </a:pPr>
            <a:r>
              <a:t>DELIVERABLES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6583680" cy="47548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Core Submission Deliverables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61264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📱 Native Android App: app/satarkpay-android/ (Clean White Fintech Theme, Kotlin Compose).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📦 Pre-Compiled APK: SatarkPay-WhiteTheme.apk (23 MB ready to install).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🌐 Web Cyber Simulator: web/satarkpay_m2.html (Glassmorphism, Audio haptics, Live ticker).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📑 Interactive Pitch Deck: web/deck/deck.html (12 High-impact executive slides).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⚙️ Rule Packs R1-R38: rules/ (Deterministic on-device patterns covering 18 fraud families).</a:t>
            </a:r>
          </a:p>
          <a:p>
            <a:pPr>
              <a:spcAft>
                <a:spcPts val="7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•  🧪 Test Verification: 66/66 smoke tests passing (web/run_smoke.sh) with &lt;12ms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325880"/>
            <a:ext cx="3840480" cy="4754880"/>
          </a:xfrm>
          <a:prstGeom prst="roundRect">
            <a:avLst/>
          </a:prstGeom>
          <a:solidFill>
            <a:srgbClr val="111A2E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490472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Team SCΛMURΛI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920240"/>
            <a:ext cx="33832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 Nishant Kumar</a:t>
            </a:r>
            <a:br/>
            <a:r>
              <a:t>System Architecture, Android Compose &amp; Rule Engine</a:t>
            </a:r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 Prince Singh</a:t>
            </a:r>
            <a:br/>
            <a:r>
              <a:t>Threat Intelligence Crawling &amp; Evidence Dossier</a:t>
            </a:r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 Kartik Singh</a:t>
            </a:r>
            <a:br/>
            <a:r>
              <a:t>UI/UX Design System, Evaluation &amp; Web Simulator</a:t>
            </a:r>
          </a:p>
          <a:p>
            <a:pPr>
              <a:spcAft>
                <a:spcPts val="7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 Submitted for SANGYAN Hackathon (SEBI × NSDL × SNTC, IIT-BHU)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1E2D4A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SatarkPay · SANGYAN Hackathon (SEBI × NSDL × SNTC, IIT-BHU) · Team SCΛMURΛI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0F2FE"/>
                </a:solidFill>
                <a:latin typeface="Arial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