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960120"/>
            <a:ext cx="10241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 i="0">
                <a:solidFill>
                  <a:srgbClr val="14181F"/>
                </a:solidFill>
                <a:latin typeface="Liberation Sans"/>
              </a:rPr>
              <a:t>SatarkPay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87451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 i="0">
                <a:solidFill>
                  <a:srgbClr val="2C3E50"/>
                </a:solidFill>
                <a:latin typeface="Liberation Sans"/>
              </a:rPr>
              <a:t>Paisa bhejne se pehle 60 second. Fraud ke baad 60 minute.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987552" y="2697480"/>
            <a:ext cx="3108960" cy="45720"/>
          </a:xfrm>
          <a:prstGeom prst="rect">
            <a:avLst/>
          </a:prstGeom>
          <a:solidFill>
            <a:srgbClr val="E3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017520"/>
            <a:ext cx="102412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B08D57"/>
                </a:solidFill>
                <a:latin typeface="Liberation Sans"/>
              </a:rPr>
              <a:t>SANGYAN — Investor Resilience Hackathon 2026</a:t>
            </a:r>
          </a:p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C3E50"/>
                </a:solidFill>
                <a:latin typeface="Liberation Sans"/>
              </a:rPr>
              <a:t>SEBI × NSDL × SNTC, IIT (BHU) Varanasi  ·  Track A + B  ·  Team SCΛMURΛI</a:t>
            </a:r>
          </a:p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C3E50"/>
                </a:solidFill>
                <a:latin typeface="Liberation Sans"/>
              </a:rPr>
              <a:t>Nishant Kumar · Prince Singh · Kartik Singh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4892040"/>
            <a:ext cx="102412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5F7F6F"/>
                </a:solidFill>
                <a:latin typeface="Liberation Sans"/>
              </a:rPr>
              <a:t>Live demo:  sudonishant.github.io/satarkpay-repo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Liberation Sans"/>
              </a:rPr>
              <a:t>Code + tests:  github.com/sudonishant/satarkpay-repo  ·  MIT  ·  66/66 checks  ·  offline chalta hai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Liberation Sans"/>
              </a:rPr>
              <a:t>SatarkPay · Team SCΛMURΛI · SANGYAN 2026 · live: sudonishant.github.io/satarkpay-repo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B08D57"/>
                </a:solidFill>
                <a:latin typeface="Liberation San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B08D57"/>
                </a:solidFill>
                <a:latin typeface="Liberation Sans"/>
              </a:rPr>
              <a:t>PROBLEM · EK ASLI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4181F"/>
                </a:solidFill>
                <a:latin typeface="Liberation Sans"/>
              </a:rPr>
              <a:t>Ramesh ke saath aaj subah kya hua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572768"/>
            <a:ext cx="10789920" cy="20320"/>
          </a:xfrm>
          <a:prstGeom prst="rect">
            <a:avLst/>
          </a:prstGeom>
          <a:solidFill>
            <a:srgbClr val="E3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965960"/>
            <a:ext cx="2487168" cy="2148840"/>
          </a:xfrm>
          <a:prstGeom prst="rect">
            <a:avLst/>
          </a:prstGeom>
          <a:solidFill>
            <a:srgbClr val="FFFFFF"/>
          </a:solidFill>
          <a:ln w="15240">
            <a:solidFill>
              <a:srgbClr val="E7DF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1965960"/>
            <a:ext cx="2487168" cy="8229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B08D57"/>
                </a:solidFill>
                <a:latin typeface="Liberation Sans"/>
              </a:rPr>
              <a:t>9:41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70048"/>
            <a:ext cx="21945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C3E50"/>
                </a:solidFill>
                <a:latin typeface="Liberation Sans"/>
              </a:rPr>
              <a:t>WhatsApp aaya — “HR Priya”,
₹5,000/din ka kaam offer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93591" y="1965960"/>
            <a:ext cx="2487168" cy="2148840"/>
          </a:xfrm>
          <a:prstGeom prst="rect">
            <a:avLst/>
          </a:prstGeom>
          <a:solidFill>
            <a:srgbClr val="FFFFFF"/>
          </a:solidFill>
          <a:ln w="15240">
            <a:solidFill>
              <a:srgbClr val="E7DF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93591" y="1965960"/>
            <a:ext cx="2487168" cy="8229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76472" y="224028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B08D57"/>
                </a:solidFill>
                <a:latin typeface="Liberation Sans"/>
              </a:rPr>
              <a:t>9:47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6472" y="2670048"/>
            <a:ext cx="21945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C3E50"/>
                </a:solidFill>
                <a:latin typeface="Liberation Sans"/>
              </a:rPr>
              <a:t>“Registration fee ₹499” —
UPI link bheja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18504" y="1965960"/>
            <a:ext cx="2487168" cy="2148840"/>
          </a:xfrm>
          <a:prstGeom prst="rect">
            <a:avLst/>
          </a:prstGeom>
          <a:solidFill>
            <a:srgbClr val="FFFFFF"/>
          </a:solidFill>
          <a:ln w="15240">
            <a:solidFill>
              <a:srgbClr val="E7DF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18504" y="1965960"/>
            <a:ext cx="2487168" cy="8229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224028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B08D57"/>
                </a:solidFill>
                <a:latin typeface="Liberation Sans"/>
              </a:rPr>
              <a:t>9:53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670048"/>
            <a:ext cx="21945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C3E50"/>
                </a:solidFill>
                <a:latin typeface="Liberation Sans"/>
              </a:rPr>
              <a:t>Ramesh payment screen par
pahunch gaya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43415" y="1965960"/>
            <a:ext cx="2487168" cy="2148840"/>
          </a:xfrm>
          <a:prstGeom prst="rect">
            <a:avLst/>
          </a:prstGeom>
          <a:solidFill>
            <a:srgbClr val="FFFFFF"/>
          </a:solidFill>
          <a:ln w="15240">
            <a:solidFill>
              <a:srgbClr val="E7DF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43415" y="1965960"/>
            <a:ext cx="2487168" cy="82296"/>
          </a:xfrm>
          <a:prstGeom prst="rect">
            <a:avLst/>
          </a:prstGeom>
          <a:solidFill>
            <a:srgbClr val="B06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26295" y="224028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B0654F"/>
                </a:solidFill>
                <a:latin typeface="Liberation Sans"/>
              </a:rPr>
              <a:t>9:54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6295" y="2670048"/>
            <a:ext cx="21945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C3E50"/>
                </a:solidFill>
                <a:latin typeface="Liberation Sans"/>
              </a:rPr>
              <a:t>Paisa gaya. Number block.
Paisa wapas? Pata nahi.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34340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14181F"/>
                </a:solidFill>
                <a:latin typeface="Liberation Sans"/>
              </a:rPr>
              <a:t>Sirf 13 minute. Us dauran Ramesh ke paas koi tool nahi tha jo beech me aa jaata.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C3E50"/>
                </a:solidFill>
                <a:latin typeface="Liberation Sans"/>
              </a:rPr>
              <a:t>Aaj ke tools payment ke BAAD aate hain — score padhne se paisa wapas nahi aata.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5532120"/>
            <a:ext cx="10469880" cy="658368"/>
          </a:xfrm>
          <a:prstGeom prst="rect">
            <a:avLst/>
          </a:prstGeom>
          <a:solidFill>
            <a:srgbClr val="F2E4CD"/>
          </a:solidFill>
          <a:ln w="17780">
            <a:solidFill>
              <a:srgbClr val="B08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669280"/>
            <a:ext cx="9966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B0654F"/>
                </a:solidFill>
                <a:latin typeface="Liberation Sans"/>
              </a:rPr>
              <a:t>SatarkPay us 13 minute ke andar kaam karta hai — aur uske baad ke 60 minute bhi sambhalta hai.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Liberation Sans"/>
              </a:rPr>
              <a:t>SatarkPay · Team SCΛMURΛI · SANGYAN 2026 · live: sudonishant.github.io/satarkpay-repo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B08D57"/>
                </a:solidFill>
                <a:latin typeface="Liberation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B08D57"/>
                </a:solidFill>
                <a:latin typeface="Liberation Sans"/>
              </a:rPr>
              <a:t>PROBLEM ·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4181F"/>
                </a:solidFill>
                <a:latin typeface="Liberation Sans"/>
              </a:rPr>
              <a:t>Ye Ramesh akele nahi hain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572768"/>
            <a:ext cx="10789920" cy="20320"/>
          </a:xfrm>
          <a:prstGeom prst="rect">
            <a:avLst/>
          </a:prstGeom>
          <a:solidFill>
            <a:srgbClr val="E3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2011680"/>
            <a:ext cx="2578608" cy="1783080"/>
          </a:xfrm>
          <a:prstGeom prst="rect">
            <a:avLst/>
          </a:prstGeom>
          <a:solidFill>
            <a:srgbClr val="FFFFFF"/>
          </a:solidFill>
          <a:ln w="15240">
            <a:solidFill>
              <a:srgbClr val="E7DF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212848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B08D57"/>
                </a:solidFill>
                <a:latin typeface="Liberation Sans"/>
              </a:rPr>
              <a:t>16 crore+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2834640"/>
            <a:ext cx="2194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C3E50"/>
                </a:solidFill>
                <a:latin typeface="Liberation Sans"/>
              </a:rPr>
              <a:t>demat accounts — 70% naye
Tier-2/3 cities se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66744" y="2011680"/>
            <a:ext cx="2578608" cy="1783080"/>
          </a:xfrm>
          <a:prstGeom prst="rect">
            <a:avLst/>
          </a:prstGeom>
          <a:solidFill>
            <a:srgbClr val="FFFFFF"/>
          </a:solidFill>
          <a:ln w="15240">
            <a:solidFill>
              <a:srgbClr val="E7DF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67911" y="2212848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B0654F"/>
                </a:solidFill>
                <a:latin typeface="Liberation Sans"/>
              </a:rPr>
              <a:t>9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7911" y="2834640"/>
            <a:ext cx="2194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C3E50"/>
                </a:solidFill>
                <a:latin typeface="Liberation Sans"/>
              </a:rPr>
              <a:t>individual F&amp;O traders
net loss me (SEBI study)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64808" y="2011680"/>
            <a:ext cx="2578608" cy="1783080"/>
          </a:xfrm>
          <a:prstGeom prst="rect">
            <a:avLst/>
          </a:prstGeom>
          <a:solidFill>
            <a:srgbClr val="FFFFFF"/>
          </a:solidFill>
          <a:ln w="15240">
            <a:solidFill>
              <a:srgbClr val="E7DF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5976" y="2212848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3E6E78"/>
                </a:solidFill>
                <a:latin typeface="Liberation Sans"/>
              </a:rPr>
              <a:t>71%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5976" y="2834640"/>
            <a:ext cx="2194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C3E50"/>
                </a:solidFill>
                <a:latin typeface="Liberation Sans"/>
              </a:rPr>
              <a:t>competitor repos sirf
“paste → score” checker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62872" y="2011680"/>
            <a:ext cx="2578608" cy="1783080"/>
          </a:xfrm>
          <a:prstGeom prst="rect">
            <a:avLst/>
          </a:prstGeom>
          <a:solidFill>
            <a:srgbClr val="FFFFFF"/>
          </a:solidFill>
          <a:ln w="15240">
            <a:solidFill>
              <a:srgbClr val="E7DF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64040" y="2212848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5F7F6F"/>
                </a:solidFill>
                <a:latin typeface="Liberation Sans"/>
              </a:rPr>
              <a:t>24%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2834640"/>
            <a:ext cx="2194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C3E50"/>
                </a:solidFill>
                <a:latin typeface="Liberation Sans"/>
              </a:rPr>
              <a:t>ke paas koi working
live demo hi nahi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11480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14181F"/>
                </a:solidFill>
                <a:latin typeface="Liberation Sans"/>
              </a:rPr>
              <a:t>Aur aaj ki tools fraud ke BAAD aati hain.</a:t>
            </a:r>
          </a:p>
          <a:p>
            <a:pPr algn="l">
              <a:spcAft>
                <a:spcPts val="800"/>
              </a:spcAft>
            </a:pPr>
            <a:r>
              <a:rPr sz="1450" b="0" i="0">
                <a:solidFill>
                  <a:srgbClr val="2C3E50"/>
                </a:solidFill>
                <a:latin typeface="Liberation Sans"/>
              </a:rPr>
              <a:t>User message paste karta hai → score milta hai → par paisa ja chuka hota hai. Recovery ke liye phir bhi koi plan nahi.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5212080"/>
            <a:ext cx="10469880" cy="777240"/>
          </a:xfrm>
          <a:prstGeom prst="rect">
            <a:avLst/>
          </a:prstGeom>
          <a:solidFill>
            <a:srgbClr val="F5E9D9"/>
          </a:solidFill>
          <a:ln w="17780">
            <a:solidFill>
              <a:srgbClr val="B08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394960"/>
            <a:ext cx="9966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B0654F"/>
                </a:solidFill>
                <a:latin typeface="Liberation Sans"/>
              </a:rPr>
              <a:t>Isliye humne do cheezein banayi: PAISA ROKNA (pre-pay) aur PAISA WAPAS (evidence pack).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Liberation Sans"/>
              </a:rPr>
              <a:t>SatarkPay · Team SCΛMURΛI · SANGYAN 2026 · live: sudonishant.github.io/satarkpay-repo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B08D57"/>
                </a:solidFill>
                <a:latin typeface="Liberatio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B08D57"/>
                </a:solidFill>
                <a:latin typeface="Liberation Sans"/>
              </a:rPr>
              <a:t>SOLUTION · EK JOURNEY, END-TO-END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4181F"/>
                </a:solidFill>
                <a:latin typeface="Liberation Sans"/>
              </a:rPr>
              <a:t>Chat se payment tak — beech me ek guard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572768"/>
            <a:ext cx="10789920" cy="20320"/>
          </a:xfrm>
          <a:prstGeom prst="rect">
            <a:avLst/>
          </a:prstGeom>
          <a:solidFill>
            <a:srgbClr val="E3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1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607040" cy="35581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5469260"/>
            <a:ext cx="10515600" cy="7669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14181F"/>
                </a:solidFill>
                <a:latin typeface="Liberation Sans"/>
              </a:rPr>
              <a:t>Kya khaas hai: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C3E50"/>
                </a:solidFill>
                <a:latin typeface="Liberation Sans"/>
              </a:rPr>
              <a:t>·  Guard chat ke andar nahi jhaankta — sirf timing + payment signals (on-device, 0 message text).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C3E50"/>
                </a:solidFill>
                <a:latin typeface="Liberation Sans"/>
              </a:rPr>
              <a:t>·  Friction hazaar logon par nahi — sirf us combo par jo fraud ka shape hai (unknown + lambi chat + bada amount).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C3E50"/>
                </a:solidFill>
                <a:latin typeface="Liberation Sans"/>
              </a:rPr>
              <a:t>·  Block kuch bhi auto nahi — hold aata hai, final call user ki. (Ethics + guardrail compliance)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Liberation Sans"/>
              </a:rPr>
              <a:t>SatarkPay · Team SCΛMURΛI · SANGYAN 2026 · live: sudonishant.github.io/satarkpay-repo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B08D57"/>
                </a:solidFill>
                <a:latin typeface="Liberatio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B08D57"/>
                </a:solidFill>
                <a:latin typeface="Liberation Sans"/>
              </a:rPr>
              <a:t>DEMO · 7 MODULES, OFFLINE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4181F"/>
                </a:solidFill>
                <a:latin typeface="Liberation Sans"/>
              </a:rPr>
              <a:t>Judge khud chala sakta hai — 2 minute me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572768"/>
            <a:ext cx="10789920" cy="20320"/>
          </a:xfrm>
          <a:prstGeom prst="rect">
            <a:avLst/>
          </a:prstGeom>
          <a:solidFill>
            <a:srgbClr val="E3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a_saved_contact_fast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6035040" cy="42245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18120" y="1828800"/>
            <a:ext cx="36576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4181F"/>
                </a:solidFill>
                <a:latin typeface="Liberation Sans"/>
              </a:rPr>
              <a:t>M1 · Chat-Before-Pay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2C3E50"/>
                </a:solidFill>
                <a:latin typeface="Liberation Sans"/>
              </a:rPr>
              <a:t>saved/unknown × chat length ka matrix</a:t>
            </a:r>
          </a:p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4181F"/>
                </a:solidFill>
                <a:latin typeface="Liberation Sans"/>
              </a:rPr>
              <a:t>M2 · Screenshot Radar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2C3E50"/>
                </a:solidFill>
                <a:latin typeface="Liberation Sans"/>
              </a:rPr>
              <a:t>payment screenshots ka burst + provenance</a:t>
            </a:r>
          </a:p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4181F"/>
                </a:solidFill>
                <a:latin typeface="Liberation Sans"/>
              </a:rPr>
              <a:t>M3 · Domain Trust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2C3E50"/>
                </a:solidFill>
                <a:latin typeface="Liberation Sans"/>
              </a:rPr>
              <a:t>gateway ≠ merchant mismatch</a:t>
            </a:r>
          </a:p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4181F"/>
                </a:solidFill>
                <a:latin typeface="Liberation Sans"/>
              </a:rPr>
              <a:t>M4 · AI Sanchalak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2C3E50"/>
                </a:solidFill>
                <a:latin typeface="Liberation Sans"/>
              </a:rPr>
              <a:t>verdict + registry format + negation-aware</a:t>
            </a:r>
          </a:p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4181F"/>
                </a:solidFill>
                <a:latin typeface="Liberation Sans"/>
              </a:rPr>
              <a:t>M5/M6/M7 · audit · intel · recovery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2C3E50"/>
                </a:solidFill>
                <a:latin typeface="Liberation Sans"/>
              </a:rPr>
              <a:t>emergency layer: email + 1930 + payment stop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5138928"/>
            <a:ext cx="3657600" cy="1005840"/>
          </a:xfrm>
          <a:prstGeom prst="rect">
            <a:avLst/>
          </a:prstGeom>
          <a:solidFill>
            <a:srgbClr val="EFF4EF"/>
          </a:solidFill>
          <a:ln w="16510">
            <a:solidFill>
              <a:srgbClr val="5F7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8431" y="5248656"/>
            <a:ext cx="3291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5F7F6F"/>
                </a:solidFill>
                <a:latin typeface="Liberation Sans"/>
              </a:rPr>
              <a:t>Live: sudonishant.github.io/satarkpay-repo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C3E50"/>
                </a:solidFill>
                <a:latin typeface="Liberation Sans"/>
              </a:rPr>
              <a:t>offline bhi chalta hai · 164 KB single file · koi install nahi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Liberation Sans"/>
              </a:rPr>
              <a:t>SatarkPay · Team SCΛMURΛI · SANGYAN 2026 · live: sudonishant.github.io/satarkpay-repo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B08D57"/>
                </a:solidFill>
                <a:latin typeface="Liberatio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B08D57"/>
                </a:solidFill>
                <a:latin typeface="Liberation Sans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4181F"/>
                </a:solidFill>
                <a:latin typeface="Liberation Sans"/>
              </a:rPr>
              <a:t>Verdict rules dete hain — LLM sirf samjhata hai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572768"/>
            <a:ext cx="10789920" cy="20320"/>
          </a:xfrm>
          <a:prstGeom prst="rect">
            <a:avLst/>
          </a:prstGeom>
          <a:solidFill>
            <a:srgbClr val="E3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2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810512"/>
            <a:ext cx="10058400" cy="35500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5470263"/>
            <a:ext cx="10515600" cy="765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92"/>
              </a:spcAft>
            </a:pPr>
            <a:r>
              <a:rPr sz="1372" b="1" i="0">
                <a:solidFill>
                  <a:srgbClr val="14181F"/>
                </a:solidFill>
                <a:latin typeface="Liberation Sans"/>
              </a:rPr>
              <a:t>Isliye hum bharosa karne layak hain:</a:t>
            </a:r>
          </a:p>
          <a:p>
            <a:pPr algn="l">
              <a:spcAft>
                <a:spcPts val="392"/>
              </a:spcAft>
            </a:pPr>
            <a:r>
              <a:rPr sz="1225" b="0" i="0">
                <a:solidFill>
                  <a:srgbClr val="2C3E50"/>
                </a:solidFill>
                <a:latin typeface="Liberation Sans"/>
              </a:rPr>
              <a:t>·  Deterministic engine = same input, same verdict (audit ho sakta hai) · LLM off ho to bhi system chalta hai</a:t>
            </a:r>
          </a:p>
          <a:p>
            <a:pPr algn="l">
              <a:spcAft>
                <a:spcPts val="392"/>
              </a:spcAft>
            </a:pPr>
            <a:r>
              <a:rPr sz="1225" b="0" i="0">
                <a:solidFill>
                  <a:srgbClr val="2C3E50"/>
                </a:solidFill>
                <a:latin typeface="Liberation Sans"/>
              </a:rPr>
              <a:t>·  “Pakka nahi bata sakta” ek valid answer hai — aur eval me hum apne miss/FP chhupate nahi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Liberation Sans"/>
              </a:rPr>
              <a:t>SatarkPay · Team SCΛMURΛI · SANGYAN 2026 · live: sudonishant.github.io/satarkpay-repo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B08D57"/>
                </a:solidFill>
                <a:latin typeface="Liberatio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B08D57"/>
                </a:solidFill>
                <a:latin typeface="Liberation Sans"/>
              </a:rPr>
              <a:t>PRODUCT · SAAT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4181F"/>
                </a:solidFill>
                <a:latin typeface="Liberation Sans"/>
              </a:rPr>
              <a:t>Har module ek alag scam pattern pakadta hai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572768"/>
            <a:ext cx="10789920" cy="20320"/>
          </a:xfrm>
          <a:prstGeom prst="rect">
            <a:avLst/>
          </a:prstGeom>
          <a:solidFill>
            <a:srgbClr val="E3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8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10515600" cy="37113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5622484"/>
            <a:ext cx="10515600" cy="61372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2C3E50"/>
                </a:solidFill>
                <a:latin typeface="Liberation Sans"/>
              </a:rPr>
              <a:t>Emergency layer (R38) sirf ek tab nahi — M1 ke HOLD card, M7 ke report aur panic button se ek tap me khulta hai.</a:t>
            </a:r>
          </a:p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B0654F"/>
                </a:solidFill>
                <a:latin typeface="Liberation Sans"/>
              </a:rPr>
              <a:t>Demo me sab kuch offline chalta hai: koi API key, koi network, koi install nahi.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Liberation Sans"/>
              </a:rPr>
              <a:t>SatarkPay · Team SCΛMURΛI · SANGYAN 2026 · live: sudonishant.github.io/satarkpay-repo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B08D57"/>
                </a:solidFill>
                <a:latin typeface="Liberatio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B08D57"/>
                </a:solidFill>
                <a:latin typeface="Liberation Sans"/>
              </a:rPr>
              <a:t>PROOF · MEASURED, GUESS NAHI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4181F"/>
                </a:solidFill>
                <a:latin typeface="Liberation Sans"/>
              </a:rPr>
              <a:t>33 messages · P 95% · R 90.5% — aur misses bhi dikhte hain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572768"/>
            <a:ext cx="10789920" cy="20320"/>
          </a:xfrm>
          <a:prstGeom prst="rect">
            <a:avLst/>
          </a:prstGeom>
          <a:solidFill>
            <a:srgbClr val="E3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6_eval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83080"/>
            <a:ext cx="10424160" cy="34056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5316763"/>
            <a:ext cx="10515600" cy="9194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2C3E50"/>
                </a:solidFill>
                <a:latin typeface="Liberation Sans"/>
              </a:rPr>
              <a:t>Self-authored set ka matlab: ye CEILING hai, field accuracy nahi — hum yahi likhte hain, chhupate nahi.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2C3E50"/>
                </a:solidFill>
                <a:latin typeface="Liberation Sans"/>
              </a:rPr>
              <a:t>Miss 2 aur false-alarm 1 — teeno messages ka pura text repo me hai, judge khud verify kar sakta hai.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Liberation Sans"/>
              </a:rPr>
              <a:t>SatarkPay · Team SCΛMURΛI · SANGYAN 2026 · live: sudonishant.github.io/satarkpay-repo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B08D57"/>
                </a:solidFill>
                <a:latin typeface="Liberatio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B08D57"/>
                </a:solidFill>
                <a:latin typeface="Liberation Sans"/>
              </a:rPr>
              <a:t>PROOF · LATENCY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4181F"/>
                </a:solidFill>
                <a:latin typeface="Liberation Sans"/>
              </a:rPr>
              <a:t>0.012 ms median — 5,000 runs ka asli histogram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572768"/>
            <a:ext cx="10789920" cy="20320"/>
          </a:xfrm>
          <a:prstGeom prst="rect">
            <a:avLst/>
          </a:prstGeom>
          <a:solidFill>
            <a:srgbClr val="E3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7_latency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810512"/>
            <a:ext cx="10058400" cy="3133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5054057"/>
            <a:ext cx="10515600" cy="11821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2C3E50"/>
                </a:solidFill>
                <a:latin typeface="Liberation Sans"/>
              </a:rPr>
              <a:t>Ye chart raw data se bana hai (latency_raw.json) — hand-drawn nahi. Command: eval/bench_latency.js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2C3E50"/>
                </a:solidFill>
                <a:latin typeface="Liberation Sans"/>
              </a:rPr>
              <a:t>Network call zero — “on-device” ka yahi matlab. Low-end phone par zyada hoga; wo re-measure Phase-2 me hai (honest note).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Liberation Sans"/>
              </a:rPr>
              <a:t>SatarkPay · Team SCΛMURΛI · SANGYAN 2026 · live: sudonishant.github.io/satarkpay-repo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B08D57"/>
                </a:solidFill>
                <a:latin typeface="Liberatio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B08D57"/>
                </a:solidFill>
                <a:latin typeface="Liberation Sans"/>
              </a:rPr>
              <a:t>COMPETITION · 51-REPO SCAN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4181F"/>
                </a:solidFill>
                <a:latin typeface="Liberation Sans"/>
              </a:rPr>
              <a:t>Jo sab bana rahe hain, hum wo nahi banaye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572768"/>
            <a:ext cx="10789920" cy="20320"/>
          </a:xfrm>
          <a:prstGeom prst="rect">
            <a:avLst/>
          </a:prstGeom>
          <a:solidFill>
            <a:srgbClr val="E3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5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7863840" cy="31681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15400" y="1965960"/>
            <a:ext cx="26517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B08D57"/>
                </a:solidFill>
                <a:latin typeface="Liberation Sans"/>
              </a:rPr>
              <a:t>71%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C3E50"/>
                </a:solidFill>
                <a:latin typeface="Liberation Sans"/>
              </a:rPr>
              <a:t>teams “paste karo → score” checker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B08D57"/>
                </a:solidFill>
                <a:latin typeface="Liberation Sans"/>
              </a:rPr>
              <a:t>24%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C3E50"/>
                </a:solidFill>
                <a:latin typeface="Liberation Sans"/>
              </a:rPr>
              <a:t>ke paas working live demo</a:t>
            </a:r>
          </a:p>
          <a:p>
            <a:pPr algn="l">
              <a:spcAft>
                <a:spcPts val="400"/>
              </a:spcAft>
            </a:pPr>
            <a:r>
              <a:rPr sz="2500" b="1" i="0">
                <a:solidFill>
                  <a:srgbClr val="B08D57"/>
                </a:solidFill>
                <a:latin typeface="Liberation Sans"/>
              </a:rPr>
              <a:t>8%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C3E50"/>
                </a:solidFill>
                <a:latin typeface="Liberation Sans"/>
              </a:rPr>
              <a:t>ke paas measured eval (test set)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115809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B0654F"/>
                </a:solidFill>
                <a:latin typeface="Liberation Sans"/>
              </a:rPr>
              <a:t>SatarkPay = interception + evidence-grade recovery + measured proof — teeno ek saath kisi ke paas nahi.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Liberation Sans"/>
              </a:rPr>
              <a:t>SatarkPay · Team SCΛMURΛI · SANGYAN 2026 · live: sudonishant.github.io/satarkpay-repo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B08D57"/>
                </a:solidFill>
                <a:latin typeface="Liberatio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B08D57"/>
                </a:solidFill>
                <a:latin typeface="Liberation Sans"/>
              </a:rPr>
              <a:t>TRUST · GUARDRAIL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4181F"/>
                </a:solidFill>
                <a:latin typeface="Liberation Sans"/>
              </a:rPr>
              <a:t>Hum wo permissions maangte hi nahi, jo scam apps maangte hain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572768"/>
            <a:ext cx="10789920" cy="20320"/>
          </a:xfrm>
          <a:prstGeom prst="rect">
            <a:avLst/>
          </a:prstGeom>
          <a:solidFill>
            <a:srgbClr val="E3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4_permis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755648"/>
            <a:ext cx="10241280" cy="39540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5856041"/>
            <a:ext cx="10515600" cy="3801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14181F"/>
                </a:solidFill>
                <a:latin typeface="Liberation Sans"/>
              </a:rPr>
              <a:t>PS ke guardrails ke andar, sab likhit: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C3E50"/>
                </a:solidFill>
                <a:latin typeface="Liberation Sans"/>
              </a:rPr>
              <a:t>koi stock tip / buy-sell-hold nahi  ·  koi monetisation nahi  ·  SMS/OTP/PII harvest nahi  ·  uncertainty transparent  ·  public-good ethos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C3E50"/>
                </a:solidFill>
                <a:latin typeface="Liberation Sans"/>
              </a:rPr>
              <a:t>Privacy by design: DPDP-aligned · data device par · server par sirf verdict code + entity hash (opt-in).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Liberation Sans"/>
              </a:rPr>
              <a:t>SatarkPay · Team SCΛMURΛI · SANGYAN 2026 · live: sudonishant.github.io/satarkpay-repo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B08D57"/>
                </a:solidFill>
                <a:latin typeface="Liberatio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B08D57"/>
                </a:solidFill>
                <a:latin typeface="Liberation Sans"/>
              </a:rPr>
              <a:t>TRUST ·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4181F"/>
                </a:solidFill>
                <a:latin typeface="Liberation Sans"/>
              </a:rPr>
              <a:t>Data kahan jaata hai — phone se bahar kya nikalta hai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572768"/>
            <a:ext cx="10789920" cy="20320"/>
          </a:xfrm>
          <a:prstGeom prst="rect">
            <a:avLst/>
          </a:prstGeom>
          <a:solidFill>
            <a:srgbClr val="E3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9_priv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607040" cy="362385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68680" y="5486400"/>
            <a:ext cx="10469880" cy="713232"/>
          </a:xfrm>
          <a:prstGeom prst="rect">
            <a:avLst/>
          </a:prstGeom>
          <a:solidFill>
            <a:srgbClr val="EFF4EF"/>
          </a:solidFill>
          <a:ln w="17780">
            <a:solidFill>
              <a:srgbClr val="5F7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5614416"/>
            <a:ext cx="9966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C3E50"/>
                </a:solidFill>
                <a:latin typeface="Liberation Sans"/>
              </a:rPr>
              <a:t>Plaintext message text kahin nahi jaata — server default OFF. Yahi DPDP compliance ka core hai, aur yahi wajah hai ki READ_SMS manifest me nahi hai.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Liberation Sans"/>
              </a:rPr>
              <a:t>SatarkPay · Team SCΛMURΛI · SANGYAN 2026 · live: sudonishant.github.io/satarkpay-repo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B08D57"/>
                </a:solidFill>
                <a:latin typeface="Liberation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B08D57"/>
                </a:solidFill>
                <a:latin typeface="Liberation Sans"/>
              </a:rPr>
              <a:t>RUBRIC MAP · PS KE 5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4181F"/>
                </a:solidFill>
                <a:latin typeface="Liberation Sans"/>
              </a:rPr>
              <a:t>Judges jo score karte hain — humara evidence usi ke against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572768"/>
            <a:ext cx="10789920" cy="20320"/>
          </a:xfrm>
          <a:prstGeom prst="rect">
            <a:avLst/>
          </a:prstGeom>
          <a:solidFill>
            <a:srgbClr val="E3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874519"/>
            <a:ext cx="1046988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1874519"/>
            <a:ext cx="146304" cy="75895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020824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4181F"/>
                </a:solidFill>
                <a:latin typeface="Liberation Sans"/>
              </a:rPr>
              <a:t>Resilience &amp; safety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2002536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B08D57"/>
                </a:solidFill>
                <a:latin typeface="Liberation Sans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039112"/>
            <a:ext cx="6126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C3E50"/>
                </a:solidFill>
                <a:latin typeface="Liberation Sans"/>
              </a:rPr>
              <a:t>M1 pre-pay interception + M7/R38 golden-hour pack — fraud se pehle aur baad, dono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734056"/>
            <a:ext cx="1046988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734056"/>
            <a:ext cx="146304" cy="758952"/>
          </a:xfrm>
          <a:prstGeom prst="rect">
            <a:avLst/>
          </a:prstGeom>
          <a:solidFill>
            <a:srgbClr val="5F7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8036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4181F"/>
                </a:solidFill>
                <a:latin typeface="Liberation Sans"/>
              </a:rPr>
              <a:t>Tier-2/3 usability (Bharat-first)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862072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5F7F6F"/>
                </a:solidFill>
                <a:latin typeface="Liberation Sans"/>
              </a:rPr>
              <a:t>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898648"/>
            <a:ext cx="6126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C3E50"/>
                </a:solidFill>
                <a:latin typeface="Liberation Sans"/>
              </a:rPr>
              <a:t>Hindi voice + senior mode + offline 164KB demo + low-bandwidth text-first UI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3593591"/>
            <a:ext cx="1046988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" y="3593591"/>
            <a:ext cx="146304" cy="758952"/>
          </a:xfrm>
          <a:prstGeom prst="rect">
            <a:avLst/>
          </a:prstGeom>
          <a:solidFill>
            <a:srgbClr val="3E6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3739896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4181F"/>
                </a:solidFill>
                <a:latin typeface="Liberation Sans"/>
              </a:rPr>
              <a:t>Guardrail compliance &amp; trust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3721607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3E6E78"/>
                </a:solidFill>
                <a:latin typeface="Liberation Sans"/>
              </a:rPr>
              <a:t>15%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758183"/>
            <a:ext cx="6126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C3E50"/>
                </a:solidFill>
                <a:latin typeface="Liberation Sans"/>
              </a:rPr>
              <a:t>0 SMS/notif/contacts permissions · no tips · uncertainty transparent · DPDP-aligned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4453127"/>
            <a:ext cx="1046988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" y="4453127"/>
            <a:ext cx="146304" cy="758952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599431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4181F"/>
                </a:solidFill>
                <a:latin typeface="Liberation Sans"/>
              </a:rPr>
              <a:t>Technical execution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4581143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2C3E50"/>
                </a:solidFill>
                <a:latin typeface="Liberation Sans"/>
              </a:rPr>
              <a:t>15%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4617719"/>
            <a:ext cx="6126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C3E50"/>
                </a:solidFill>
                <a:latin typeface="Liberation Sans"/>
              </a:rPr>
              <a:t>66/66 checks · P95/R90.5 · 0.012ms median · 33-msg eval harness · CI on every push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312663"/>
            <a:ext cx="1046988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" y="5312663"/>
            <a:ext cx="146304" cy="758952"/>
          </a:xfrm>
          <a:prstGeom prst="rect">
            <a:avLst/>
          </a:prstGeom>
          <a:solidFill>
            <a:srgbClr val="B06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4440" y="5458967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4181F"/>
                </a:solidFill>
                <a:latin typeface="Liberation Sans"/>
              </a:rPr>
              <a:t>Feasibility &amp; scalability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240" y="5440679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B0654F"/>
                </a:solidFill>
                <a:latin typeface="Liberation Sans"/>
              </a:rPr>
              <a:t>15%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5477255"/>
            <a:ext cx="6126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C3E50"/>
                </a:solidFill>
                <a:latin typeface="Liberation Sans"/>
              </a:rPr>
              <a:t>MIT + ~0 per-user cost · Android + web + offline · Phase-2: registry sync, Bhashini, IVR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61722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0654F"/>
                </a:solidFill>
                <a:latin typeface="Liberation Sans"/>
              </a:rPr>
              <a:t>Har criteria ke liye ek live artifact hai — koi claim bina proof ke nahi.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Liberation Sans"/>
              </a:rPr>
              <a:t>SatarkPay · Team SCΛMURΛI · SANGYAN 2026 · live: sudonishant.github.io/satarkpay-repo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B08D57"/>
                </a:solidFill>
                <a:latin typeface="Liberation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B08D57"/>
                </a:solidFill>
                <a:latin typeface="Liberation Sans"/>
              </a:rPr>
              <a:t>COVERAGE · 7 SCAM FAMILIES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4181F"/>
                </a:solidFill>
                <a:latin typeface="Liberation Sans"/>
              </a:rPr>
              <a:t>7 scam families — kaun module pakadta hai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572768"/>
            <a:ext cx="10789920" cy="20320"/>
          </a:xfrm>
          <a:prstGeom prst="rect">
            <a:avLst/>
          </a:prstGeom>
          <a:solidFill>
            <a:srgbClr val="E3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10_famil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83080"/>
            <a:ext cx="10424160" cy="33145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5225614"/>
            <a:ext cx="10515600" cy="101059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2C3E50"/>
                </a:solidFill>
                <a:latin typeface="Liberation Sans"/>
              </a:rPr>
              <a:t>Coverage map rule-design se aata hai — har family ke liye kam se kam ek detection path hai, aur ek fallback (human callback / 1930).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Liberation Sans"/>
              </a:rPr>
              <a:t>SatarkPay · Team SCΛMURΛI · SANGYAN 2026 · live: sudonishant.github.io/satarkpay-repo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B08D57"/>
                </a:solidFill>
                <a:latin typeface="Liberation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B08D57"/>
                </a:solidFill>
                <a:latin typeface="Liberation Sans"/>
              </a:rPr>
              <a:t>HONESTY · LIMITS +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4181F"/>
                </a:solidFill>
                <a:latin typeface="Liberation Sans"/>
              </a:rPr>
              <a:t>Aaj kya nahi hai — aur 30 din me kya hoga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572768"/>
            <a:ext cx="10789920" cy="20320"/>
          </a:xfrm>
          <a:prstGeom prst="rect">
            <a:avLst/>
          </a:prstGeom>
          <a:solidFill>
            <a:srgbClr val="E3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2011680"/>
            <a:ext cx="5212080" cy="3291840"/>
          </a:xfrm>
          <a:prstGeom prst="rect">
            <a:avLst/>
          </a:prstGeom>
          <a:solidFill>
            <a:srgbClr val="FFFFFF"/>
          </a:solidFill>
          <a:ln w="15240">
            <a:solidFill>
              <a:srgbClr val="E7DF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212848"/>
            <a:ext cx="4663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B08D57"/>
                </a:solidFill>
                <a:latin typeface="Liberation Sans"/>
              </a:rPr>
              <a:t>Aaj ki honest limits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47091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 i="0">
                <a:solidFill>
                  <a:srgbClr val="2C3E50"/>
                </a:solidFill>
                <a:latin typeface="Liberation Sans"/>
              </a:rPr>
              <a:t>· Eval set self-authored — ceiling hai, field accuracy nahi</a:t>
            </a:r>
          </a:p>
          <a:p>
            <a:pPr algn="l">
              <a:spcAft>
                <a:spcPts val="900"/>
              </a:spcAft>
            </a:pPr>
            <a:r>
              <a:rPr sz="1250" b="0" i="0">
                <a:solidFill>
                  <a:srgbClr val="2C3E50"/>
                </a:solidFill>
                <a:latin typeface="Liberation Sans"/>
              </a:rPr>
              <a:t>· Android telemetry: permission + Play-policy review chahiye</a:t>
            </a:r>
          </a:p>
          <a:p>
            <a:pPr algn="l">
              <a:spcAft>
                <a:spcPts val="900"/>
              </a:spcAft>
            </a:pPr>
            <a:r>
              <a:rPr sz="1250" b="0" i="0">
                <a:solidFill>
                  <a:srgbClr val="2C3E50"/>
                </a:solidFill>
                <a:latin typeface="Liberation Sans"/>
              </a:rPr>
              <a:t>· iOS par kuch signals nahi (graceful degrade)</a:t>
            </a:r>
          </a:p>
          <a:p>
            <a:pPr algn="l">
              <a:spcAft>
                <a:spcPts val="900"/>
              </a:spcAft>
            </a:pPr>
            <a:r>
              <a:rPr sz="1250" b="0" i="0">
                <a:solidFill>
                  <a:srgbClr val="2C3E50"/>
                </a:solidFill>
                <a:latin typeface="Liberation Sans"/>
              </a:rPr>
              <a:t>· OCR opt-in; image store nahi hoti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2011680"/>
            <a:ext cx="5212080" cy="3291840"/>
          </a:xfrm>
          <a:prstGeom prst="rect">
            <a:avLst/>
          </a:prstGeom>
          <a:solidFill>
            <a:srgbClr val="FFFFFF"/>
          </a:solidFill>
          <a:ln w="15240">
            <a:solidFill>
              <a:srgbClr val="E7DF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2212848"/>
            <a:ext cx="4663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5F7F6F"/>
                </a:solidFill>
                <a:latin typeface="Liberation Sans"/>
              </a:rPr>
              <a:t>Phase 2 · 30 din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697480"/>
            <a:ext cx="47091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 i="0">
                <a:solidFill>
                  <a:srgbClr val="2C3E50"/>
                </a:solidFill>
                <a:latin typeface="Liberation Sans"/>
              </a:rPr>
              <a:t>· Field calibration — asli labelled data par P/R dobara</a:t>
            </a:r>
          </a:p>
          <a:p>
            <a:pPr algn="l">
              <a:spcAft>
                <a:spcPts val="900"/>
              </a:spcAft>
            </a:pPr>
            <a:r>
              <a:rPr sz="1250" b="0" i="0">
                <a:solidFill>
                  <a:srgbClr val="2C3E50"/>
                </a:solidFill>
                <a:latin typeface="Liberation Sans"/>
              </a:rPr>
              <a:t>· Bhashini voice (12 languages) + IVR/missed-call pilot</a:t>
            </a:r>
          </a:p>
          <a:p>
            <a:pPr algn="l">
              <a:spcAft>
                <a:spcPts val="900"/>
              </a:spcAft>
            </a:pPr>
            <a:r>
              <a:rPr sz="1250" b="0" i="0">
                <a:solidFill>
                  <a:srgbClr val="2C3E50"/>
                </a:solidFill>
                <a:latin typeface="Liberation Sans"/>
              </a:rPr>
              <a:t>· SEBI registry live sync + SCORES/SMART-ODR draft</a:t>
            </a:r>
          </a:p>
          <a:p>
            <a:pPr algn="l">
              <a:spcAft>
                <a:spcPts val="900"/>
              </a:spcAft>
            </a:pPr>
            <a:r>
              <a:rPr sz="1250" b="0" i="0">
                <a:solidFill>
                  <a:srgbClr val="2C3E50"/>
                </a:solidFill>
                <a:latin typeface="Liberation Sans"/>
              </a:rPr>
              <a:t>· Pilot: 2 colleges + 1 cyber-cell desk (Patna)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5321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4181F"/>
                </a:solidFill>
                <a:latin typeface="Liberation Sans"/>
              </a:rPr>
              <a:t>Judges ke liye: jo maine banaya + jo maine jaan-boojh ke nahi banaya — dono likha hua hai (repo me bhi).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Liberation Sans"/>
              </a:rPr>
              <a:t>SatarkPay · Team SCΛMURΛI · SANGYAN 2026 · live: sudonishant.github.io/satarkpay-repo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B08D57"/>
                </a:solidFill>
                <a:latin typeface="Liberation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B08D57"/>
                </a:solidFill>
                <a:latin typeface="Liberation Sans"/>
              </a:rPr>
              <a:t>NEXT · WHAT HAPPENS MONDAY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4181F"/>
                </a:solidFill>
                <a:latin typeface="Liberation Sans"/>
              </a:rPr>
              <a:t>Hackathon khatam — phir kya?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572768"/>
            <a:ext cx="10789920" cy="20320"/>
          </a:xfrm>
          <a:prstGeom prst="rect">
            <a:avLst/>
          </a:prstGeom>
          <a:solidFill>
            <a:srgbClr val="E3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11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783080"/>
            <a:ext cx="10241280" cy="30772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5006652"/>
            <a:ext cx="10515600" cy="122955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2C3E50"/>
                </a:solidFill>
                <a:latin typeface="Liberation Sans"/>
              </a:rPr>
              <a:t>Aaj se hi live hai: demo URL, MIT code, 66 tests, measured eval — judge kuch bhi abhi verify kar sakta hai.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2C3E50"/>
                </a:solidFill>
                <a:latin typeface="Liberation Sans"/>
              </a:rPr>
              <a:t>Aage ka plan zero-cost rails par hai — koi funding dependency nahi, isliye ye plan realistic hai.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Liberation Sans"/>
              </a:rPr>
              <a:t>SatarkPay · Team SCΛMURΛI · SANGYAN 2026 · live: sudonishant.github.io/satarkpay-repo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B08D57"/>
                </a:solidFill>
                <a:latin typeface="Liberation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B08D57"/>
                </a:solidFill>
                <a:latin typeface="Liberation Sans"/>
              </a:rP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234440"/>
            <a:ext cx="102412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14181F"/>
                </a:solidFill>
                <a:latin typeface="Liberation Sans"/>
              </a:rPr>
              <a:t>Paisa jaane se pehle rokna —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B08D57"/>
                </a:solidFill>
                <a:latin typeface="Liberation Sans"/>
              </a:rPr>
              <a:t>aur fraud ho jaye to 60 minute me complaint.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971800"/>
            <a:ext cx="10241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2C3E50"/>
                </a:solidFill>
                <a:latin typeface="Liberation Sans"/>
              </a:rPr>
              <a:t>Live demo kholiye — 2 minute me khud chala kar dekh sakte hain: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5F7F6F"/>
                </a:solidFill>
                <a:latin typeface="Liberation Sans"/>
              </a:rPr>
              <a:t>sudonishant.github.io/satarkpay-repo</a:t>
            </a:r>
          </a:p>
        </p:txBody>
      </p:sp>
      <p:sp>
        <p:nvSpPr>
          <p:cNvPr id="6" name="Rectangle 5"/>
          <p:cNvSpPr/>
          <p:nvPr/>
        </p:nvSpPr>
        <p:spPr>
          <a:xfrm>
            <a:off x="987552" y="4114800"/>
            <a:ext cx="3108960" cy="45720"/>
          </a:xfrm>
          <a:prstGeom prst="rect">
            <a:avLst/>
          </a:prstGeom>
          <a:solidFill>
            <a:srgbClr val="E3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434840"/>
            <a:ext cx="102412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4181F"/>
                </a:solidFill>
                <a:latin typeface="Liberation Sans"/>
              </a:rPr>
              <a:t>Team SCΛMURΛI — Nishant Kumar · Prince Singh · Kartik Singh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2C3E50"/>
                </a:solidFill>
                <a:latin typeface="Liberation Sans"/>
              </a:rPr>
              <a:t>Code (MIT) · 66/66 checks · P 95% / R 90.5% eval · 0.012 ms median inference · offline demo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B08D57"/>
                </a:solidFill>
                <a:latin typeface="Liberation Sans"/>
              </a:rPr>
              <a:t>Thank you — sawal ke liye taiyaar hain.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Liberation Sans"/>
              </a:rPr>
              <a:t>SatarkPay · Team SCΛMURΛI · SANGYAN 2026 · live: sudonishant.github.io/satarkpay-repo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 i="0">
                <a:solidFill>
                  <a:srgbClr val="B08D57"/>
                </a:solidFill>
                <a:latin typeface="Liberation Sans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